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08" r:id="rId2"/>
    <p:sldId id="342" r:id="rId3"/>
    <p:sldId id="360" r:id="rId4"/>
    <p:sldId id="348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1" r:id="rId14"/>
    <p:sldId id="370" r:id="rId15"/>
    <p:sldId id="372" r:id="rId16"/>
    <p:sldId id="373" r:id="rId17"/>
    <p:sldId id="374" r:id="rId18"/>
    <p:sldId id="375" r:id="rId19"/>
    <p:sldId id="376" r:id="rId20"/>
  </p:sldIdLst>
  <p:sldSz cx="12192000" cy="6858000"/>
  <p:notesSz cx="6858000" cy="9144000"/>
  <p:embeddedFontLst>
    <p:embeddedFont>
      <p:font typeface="나눔스퀘어" panose="020B0600000101010101" pitchFamily="50" charset="-127"/>
      <p:regular r:id="rId23"/>
    </p:embeddedFont>
    <p:embeddedFont>
      <p:font typeface="나눔스퀘어 Bold" panose="020B0600000101010101" pitchFamily="50" charset="-127"/>
      <p:bold r:id="rId24"/>
    </p:embeddedFont>
    <p:embeddedFont>
      <p:font typeface="나눔스퀘어 ExtraBold" panose="020B0600000101010101" pitchFamily="50" charset="-127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B45C8B0-DFC5-48C2-B8AE-44C081EF15C0}">
          <p14:sldIdLst>
            <p14:sldId id="308"/>
            <p14:sldId id="342"/>
            <p14:sldId id="360"/>
            <p14:sldId id="348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1"/>
            <p14:sldId id="370"/>
            <p14:sldId id="372"/>
            <p14:sldId id="373"/>
            <p14:sldId id="374"/>
            <p14:sldId id="375"/>
            <p14:sldId id="3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098477-F887-F725-1473-27A9977C4C24}" name="최재서" initials="미최" userId="S::mint_choi@korea.ac.kr::901573fb-6fbc-4944-9ac3-52f1dd2485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0D0D"/>
    <a:srgbClr val="5D55F5"/>
    <a:srgbClr val="DD6633"/>
    <a:srgbClr val="0E7AC0"/>
    <a:srgbClr val="DC7A7A"/>
    <a:srgbClr val="900E0E"/>
    <a:srgbClr val="E6E6E6"/>
    <a:srgbClr val="E8E8E8"/>
    <a:srgbClr val="FAC6C6"/>
    <a:srgbClr val="940E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76852" autoAdjust="0"/>
  </p:normalViewPr>
  <p:slideViewPr>
    <p:cSldViewPr snapToGrid="0">
      <p:cViewPr varScale="1">
        <p:scale>
          <a:sx n="68" d="100"/>
          <a:sy n="68" d="100"/>
        </p:scale>
        <p:origin x="123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E179F60-92AC-5407-A38A-E8A02940F1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70747D-4E12-32E3-A942-998589150C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A51BE-00CB-4F1E-82CC-C1D0EB80D39F}" type="datetimeFigureOut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2026-10-19</a:t>
            </a:fld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BA3C76-F3E1-4FCB-D114-94D967A10D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58ADE-81BE-8B87-3DF4-4AF6783F7C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DC3C3-D51D-4CD1-9219-F5A457C9E9A2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‹#›</a:t>
            </a:fld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8915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F432AC41-D0F6-441B-A06E-39D17AA53658}" type="datetimeFigureOut">
              <a:rPr lang="ko-KR" altLang="en-US" smtClean="0"/>
              <a:pPr/>
              <a:t>2026-10-19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483B09BE-D482-4AA0-8E31-E74DB3740B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12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ell.co.kr/front/newsview.asp?key=202307140456460860101543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ajunews.com/view/20220302212657886" TargetMode="External"/><Relationship Id="rId4" Type="http://schemas.openxmlformats.org/officeDocument/2006/relationships/hyperlink" Target="https://www.etoday.co.kr/news/view/2265962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zdnet.co.kr/view/?no=20180821151722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ind.krx.co.kr/external/2025/06/02/000688/20250602001496/99667.htm" TargetMode="External"/><Relationship Id="rId5" Type="http://schemas.openxmlformats.org/officeDocument/2006/relationships/hyperlink" Target="https://t1.kakaocdn.net/kakaocorp/admin/ir/best-practice/5688.pdf" TargetMode="External"/><Relationship Id="rId4" Type="http://schemas.openxmlformats.org/officeDocument/2006/relationships/hyperlink" Target="https://t1.kakaocdn.net/kakaocorp/kakaocorp/admin/esg/report/CorporateGovernanceReport_2022.pdf?download=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ell.co.kr/front/newsview.asp?code=0102&amp;key=201711220100040360002488" TargetMode="External"/><Relationship Id="rId7" Type="http://schemas.openxmlformats.org/officeDocument/2006/relationships/hyperlink" Target="https://www.thebell.co.kr/front/newsview.asp?key=202201031409451480103066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thebell.co.kr/front/newsview.asp?code=0401&amp;key=202110191629172560107880" TargetMode="External"/><Relationship Id="rId5" Type="http://schemas.openxmlformats.org/officeDocument/2006/relationships/hyperlink" Target="https://www.newstomato.com/ReadNews.aspx/ReadNews.aspx?no=824093" TargetMode="External"/><Relationship Id="rId4" Type="http://schemas.openxmlformats.org/officeDocument/2006/relationships/hyperlink" Target="https://view.asiae.co.kr/article/2018031910322764993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B782-5F82-C2EC-3433-3BA2D8D4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A86903-5AC6-B0B6-80D4-9BCFBA5E8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2139AD-C729-81E4-BEA8-72BABD356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FA7A2-B759-1154-E541-1D269E8F0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541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C803-F79B-E250-BE0D-D1FC6240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FF77EB-DB1B-5CFD-7214-8F7FBC086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0952FE-E181-B644-D501-28701F6C5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C14734-3820-8150-CEC9-CA115307D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6972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9C76-ED11-5361-93AC-5FD4EF03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7AF0FC-E7EE-35F7-8352-B55B5BCA7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3890E3-2B0A-D801-2A06-81715EF62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5FD89-9D76-D655-35D3-B07699229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98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5693B-D11D-027D-300B-CFADE8E5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258C0D-3ACF-E5B0-A5C8-1EBB5BAE0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C76E1C-EC26-39FA-6139-36400F828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① 2009년 온미디어 인수: 외부 방송사업자에 대한 지배력 확보</a:t>
            </a:r>
            <a:r>
              <a:rPr lang="en-US" altLang="ko-KR" b="1" dirty="0"/>
              <a:t> </a:t>
            </a:r>
          </a:p>
          <a:p>
            <a:r>
              <a:rPr lang="ko-KR" altLang="ko-KR" dirty="0"/>
              <a:t>당시 </a:t>
            </a:r>
            <a:r>
              <a:rPr lang="ko-KR" altLang="ko-KR" dirty="0" err="1"/>
              <a:t>CJ오쇼핑은</a:t>
            </a:r>
            <a:r>
              <a:rPr lang="ko-KR" altLang="ko-KR" dirty="0"/>
              <a:t> 오리온 및 기타 주주로부터 온미디어 지분 55.17%를 약 </a:t>
            </a:r>
            <a:r>
              <a:rPr lang="ko-KR" altLang="ko-KR" b="1" dirty="0"/>
              <a:t>4,300억 원의 현금</a:t>
            </a:r>
            <a:r>
              <a:rPr lang="ko-KR" altLang="ko-KR" dirty="0"/>
              <a:t>으로 인수하기로 했습니다. 데이터 설명상 주당 인수가격은 발표 직전 종가 대비 </a:t>
            </a:r>
            <a:r>
              <a:rPr lang="ko-KR" altLang="ko-KR" b="1" dirty="0"/>
              <a:t>71%의 프리미엄</a:t>
            </a:r>
            <a:r>
              <a:rPr lang="ko-KR" altLang="ko-KR" dirty="0"/>
              <a:t>을 포함합니다.</a:t>
            </a:r>
          </a:p>
          <a:p>
            <a:r>
              <a:rPr lang="ko-KR" altLang="ko-KR" dirty="0"/>
              <a:t>이 사례는 </a:t>
            </a:r>
            <a:r>
              <a:rPr lang="ko-KR" altLang="ko-KR" b="1" dirty="0"/>
              <a:t>외부 방송사업자의 경영권을 확보해 방송채널 사업 기반을 확대하는 거래</a:t>
            </a:r>
            <a:endParaRPr lang="ko-KR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기사</a:t>
            </a:r>
            <a:r>
              <a:rPr lang="en-US" altLang="ko-KR" dirty="0"/>
              <a:t>: </a:t>
            </a:r>
            <a:r>
              <a:rPr lang="en-US" altLang="ko-KR" b="1" dirty="0"/>
              <a:t>https://www.mk.co.kr/news/culture/4666483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b="1" dirty="0"/>
              <a:t>② 2010년 온미디어 잔여지분 합병: 인수 이후 조직 통합</a:t>
            </a:r>
            <a:r>
              <a:rPr lang="en-US" altLang="ko-KR" b="1" dirty="0"/>
              <a:t> </a:t>
            </a:r>
          </a:p>
          <a:p>
            <a:r>
              <a:rPr lang="ko-KR" altLang="ko-KR" dirty="0"/>
              <a:t>2009년 과반 지분 인수에 이어, 2010년에는 온미디어의 잔여지분을 주식 교환 방식으로 합병하는 거래가 기록되어 있습니다. 설명에는 최초 잔여지분 </a:t>
            </a:r>
            <a:r>
              <a:rPr lang="ko-KR" altLang="ko-KR" b="1" dirty="0"/>
              <a:t>44.83%</a:t>
            </a:r>
            <a:r>
              <a:rPr lang="ko-KR" altLang="ko-KR" dirty="0"/>
              <a:t>, 이후 수정 내용에 **51.37%**가 기재되어 있습니다.</a:t>
            </a:r>
          </a:p>
          <a:p>
            <a:r>
              <a:rPr lang="ko-KR" altLang="ko-KR" dirty="0"/>
              <a:t>따라서 2009년과 2010년 거래는 </a:t>
            </a:r>
            <a:r>
              <a:rPr lang="ko-KR" altLang="ko-KR" b="1" dirty="0"/>
              <a:t>‘경영권 확보 → 잔여지분 및 법인 </a:t>
            </a:r>
            <a:r>
              <a:rPr lang="ko-KR" altLang="ko-KR" b="1" dirty="0" err="1"/>
              <a:t>통합’이라는</a:t>
            </a:r>
            <a:r>
              <a:rPr lang="ko-KR" altLang="ko-KR" b="1" dirty="0"/>
              <a:t> 연속 과정</a:t>
            </a:r>
            <a:r>
              <a:rPr lang="ko-KR" altLang="ko-KR" dirty="0"/>
              <a:t>으로 보는 것이 적절</a:t>
            </a:r>
          </a:p>
          <a:p>
            <a:r>
              <a:rPr lang="ko-KR" altLang="en-US" dirty="0"/>
              <a:t>기사</a:t>
            </a:r>
            <a:r>
              <a:rPr lang="en-US" altLang="ko-KR" dirty="0"/>
              <a:t>: </a:t>
            </a:r>
            <a:r>
              <a:rPr lang="en-US" altLang="ko-KR" b="1" dirty="0"/>
              <a:t>https://biz.chosun.com/site/data/html_dir/2010/11/16/2010111601710.html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b="1" dirty="0"/>
              <a:t>③ 2010년 </a:t>
            </a:r>
            <a:r>
              <a:rPr lang="ko-KR" altLang="ko-KR" b="1" dirty="0" err="1"/>
              <a:t>M-net</a:t>
            </a:r>
            <a:r>
              <a:rPr lang="ko-KR" altLang="ko-KR" b="1" dirty="0"/>
              <a:t> </a:t>
            </a:r>
            <a:r>
              <a:rPr lang="ko-KR" altLang="ko-KR" b="1" dirty="0" err="1"/>
              <a:t>Media·CJ</a:t>
            </a:r>
            <a:r>
              <a:rPr lang="ko-KR" altLang="ko-KR" b="1" dirty="0"/>
              <a:t> Media 합병: 계열 방송사업의 통합</a:t>
            </a:r>
            <a:r>
              <a:rPr lang="en-US" altLang="ko-KR" b="1" dirty="0"/>
              <a:t> </a:t>
            </a:r>
          </a:p>
          <a:p>
            <a:r>
              <a:rPr lang="ko-KR" altLang="ko-KR" dirty="0"/>
              <a:t>두 거래는 온미디어 합병과 같은 날 발표됐으며, 거래 설명에서도 서로 연계된 합병으로 제시됩니다. 존속법인인 </a:t>
            </a:r>
            <a:r>
              <a:rPr lang="ko-KR" altLang="ko-KR" dirty="0" err="1"/>
              <a:t>오미디어홀딩스가</a:t>
            </a:r>
            <a:r>
              <a:rPr lang="ko-KR" altLang="ko-KR" dirty="0"/>
              <a:t> 각 회사를 흡수하는 구조입니다.</a:t>
            </a:r>
          </a:p>
          <a:p>
            <a:r>
              <a:rPr lang="ko-KR" altLang="ko-KR" dirty="0"/>
              <a:t>이는 </a:t>
            </a:r>
            <a:r>
              <a:rPr lang="ko-KR" altLang="ko-KR" b="1" dirty="0"/>
              <a:t>외부 기업을 새로 사들이는 확장형 인수보다는, 분산된 계열 방송사업을 하나의 법인으로 통합하는 재편</a:t>
            </a:r>
            <a:endParaRPr lang="ko-KR" altLang="ko-KR" dirty="0"/>
          </a:p>
          <a:p>
            <a:r>
              <a:rPr lang="ko-KR" altLang="en-US" dirty="0"/>
              <a:t>기사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b="1" dirty="0"/>
              <a:t>https://www.edaily.co.kr/News/Read?mediaCodeNo=257&amp;newsId=02997926593166376</a:t>
            </a:r>
            <a:endParaRPr lang="en-US" altLang="ko-KR" dirty="0"/>
          </a:p>
          <a:p>
            <a:r>
              <a:rPr lang="en-US" altLang="ko-KR" dirty="0"/>
              <a:t>https://www.fnnews.com/news/201011161748588071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67596A-E202-F179-FE79-3B847158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2870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C3D9-2E7C-D9B5-AEA8-C407F76A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F195CF-D40E-918A-27E6-801567E75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C316A6-794A-ADD9-FEB4-10C9ABEFE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① </a:t>
            </a:r>
            <a:r>
              <a:rPr lang="ko-KR" altLang="ko-KR" b="1" dirty="0"/>
              <a:t>2013~2014년: </a:t>
            </a:r>
            <a:r>
              <a:rPr lang="ko-KR" altLang="ko-KR" b="1" dirty="0" err="1"/>
              <a:t>오트렌드랩에</a:t>
            </a:r>
            <a:r>
              <a:rPr lang="ko-KR" altLang="ko-KR" b="1" dirty="0"/>
              <a:t> 대한 반복 출자</a:t>
            </a:r>
            <a:endParaRPr lang="ko-KR" altLang="ko-KR" dirty="0"/>
          </a:p>
          <a:p>
            <a:r>
              <a:rPr lang="ko-KR" altLang="ko-KR" dirty="0"/>
              <a:t>이 구간의 PP 3건은 모두 같은 회사에 대한 거래</a:t>
            </a:r>
            <a:r>
              <a:rPr lang="en-US" altLang="ko-KR" dirty="0"/>
              <a:t> </a:t>
            </a:r>
            <a:r>
              <a:rPr lang="ko-KR" altLang="ko-KR" dirty="0" err="1"/>
              <a:t>CJ오쇼핑은</a:t>
            </a:r>
            <a:r>
              <a:rPr lang="ko-KR" altLang="ko-KR" dirty="0"/>
              <a:t> 총 </a:t>
            </a:r>
            <a:r>
              <a:rPr lang="ko-KR" altLang="ko-KR" b="1" dirty="0"/>
              <a:t>36억 원</a:t>
            </a:r>
            <a:r>
              <a:rPr lang="ko-KR" altLang="ko-KR" dirty="0"/>
              <a:t>을 출자하면서 매번 지분 100%를 유지</a:t>
            </a:r>
          </a:p>
          <a:p>
            <a:r>
              <a:rPr lang="ko-KR" altLang="ko-KR" dirty="0"/>
              <a:t>따라서 이 구간은 </a:t>
            </a:r>
            <a:r>
              <a:rPr lang="ko-KR" altLang="ko-KR" b="1" dirty="0"/>
              <a:t>새로운 기업의 지분을 확보하는 투자보다, 기존 완전자회사에 자본을 추가 공급한 사례</a:t>
            </a:r>
            <a:r>
              <a:rPr lang="ko-KR" altLang="ko-KR" dirty="0"/>
              <a:t>로 읽는 것이 적절</a:t>
            </a:r>
            <a:endParaRPr lang="en-US" altLang="ko-KR" dirty="0"/>
          </a:p>
          <a:p>
            <a:r>
              <a:rPr lang="ko-KR" altLang="en-US" dirty="0"/>
              <a:t>기사</a:t>
            </a:r>
            <a:r>
              <a:rPr lang="en-US" altLang="ko-KR" dirty="0"/>
              <a:t>: https://www.nspna.com/news/?mode=view&amp;newsid=65460</a:t>
            </a:r>
          </a:p>
          <a:p>
            <a:endParaRPr lang="en-US" altLang="ko-KR" dirty="0"/>
          </a:p>
          <a:p>
            <a:r>
              <a:rPr lang="ko-KR" altLang="en-US" b="1" dirty="0"/>
              <a:t>② </a:t>
            </a:r>
            <a:r>
              <a:rPr lang="ko-KR" altLang="ko-KR" b="1" dirty="0"/>
              <a:t>2019~2020년: </a:t>
            </a:r>
            <a:r>
              <a:rPr lang="ko-KR" altLang="ko-KR" b="1" dirty="0" err="1"/>
              <a:t>dBase&amp;에</a:t>
            </a:r>
            <a:r>
              <a:rPr lang="ko-KR" altLang="ko-KR" b="1" dirty="0"/>
              <a:t> 대한 완전자회사 증자</a:t>
            </a:r>
            <a:endParaRPr lang="ko-KR" altLang="ko-KR" dirty="0"/>
          </a:p>
          <a:p>
            <a:r>
              <a:rPr lang="ko-KR" altLang="ko-KR" dirty="0"/>
              <a:t>2019년 CJ </a:t>
            </a:r>
            <a:r>
              <a:rPr lang="ko-KR" altLang="ko-KR" dirty="0" err="1"/>
              <a:t>ENM이</a:t>
            </a:r>
            <a:r>
              <a:rPr lang="ko-KR" altLang="ko-KR" dirty="0"/>
              <a:t> </a:t>
            </a:r>
            <a:r>
              <a:rPr lang="ko-KR" altLang="ko-KR" dirty="0" err="1"/>
              <a:t>dBase&amp;의</a:t>
            </a:r>
            <a:r>
              <a:rPr lang="ko-KR" altLang="ko-KR" dirty="0"/>
              <a:t> 신주 15만 주를 </a:t>
            </a:r>
            <a:r>
              <a:rPr lang="ko-KR" altLang="ko-KR" b="1" dirty="0"/>
              <a:t>30억 원</a:t>
            </a:r>
            <a:r>
              <a:rPr lang="ko-KR" altLang="ko-KR" dirty="0"/>
              <a:t>에 인수한 거래</a:t>
            </a:r>
            <a:endParaRPr lang="en-US" altLang="ko-KR" dirty="0"/>
          </a:p>
          <a:p>
            <a:r>
              <a:rPr lang="ko-KR" altLang="ko-KR" dirty="0"/>
              <a:t>증자 이후에도 지분 100%를 유지하므로, </a:t>
            </a:r>
            <a:r>
              <a:rPr lang="ko-KR" altLang="ko-KR" dirty="0" err="1"/>
              <a:t>오트렌드랩과</a:t>
            </a:r>
            <a:r>
              <a:rPr lang="ko-KR" altLang="ko-KR" dirty="0"/>
              <a:t> 마찬가지로 </a:t>
            </a:r>
            <a:r>
              <a:rPr lang="ko-KR" altLang="ko-KR" b="1" dirty="0"/>
              <a:t>기존 자회사에 대한 추가 출자</a:t>
            </a:r>
            <a:br>
              <a:rPr lang="en-US" altLang="ko-KR" b="1" dirty="0"/>
            </a:br>
            <a:r>
              <a:rPr lang="ko-KR" altLang="en-US" b="1" dirty="0"/>
              <a:t>분기보고서</a:t>
            </a:r>
            <a:r>
              <a:rPr lang="en-US" altLang="ko-KR" b="1" dirty="0"/>
              <a:t>: https://kind.krx.co.kr/external/2020/05/15/001942/20200515004204/11013.htm</a:t>
            </a:r>
          </a:p>
          <a:p>
            <a:br>
              <a:rPr lang="en-US" altLang="ko-KR" b="1" dirty="0"/>
            </a:br>
            <a:r>
              <a:rPr lang="ko-KR" altLang="en-US" b="1" dirty="0"/>
              <a:t>③ </a:t>
            </a:r>
            <a:r>
              <a:rPr lang="ko-KR" altLang="ko-KR" b="1" dirty="0"/>
              <a:t>2021~2022년: 외부 투자 유치와 기존 주주의 자본 공급</a:t>
            </a:r>
            <a:endParaRPr lang="ko-KR" altLang="ko-KR" dirty="0"/>
          </a:p>
          <a:p>
            <a:r>
              <a:rPr lang="ko-KR" altLang="ko-KR" dirty="0"/>
              <a:t>이 구간에서는 규모가 커지고, 자금 공급 주체도 나</a:t>
            </a:r>
            <a:r>
              <a:rPr lang="ko-KR" altLang="en-US" dirty="0"/>
              <a:t>뉨</a:t>
            </a:r>
            <a:endParaRPr lang="ko-KR" altLang="ko-KR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ko-KR" b="1" dirty="0"/>
              <a:t>DADA MNC:</a:t>
            </a:r>
            <a:r>
              <a:rPr lang="ko-KR" altLang="ko-KR" dirty="0"/>
              <a:t> </a:t>
            </a:r>
            <a:r>
              <a:rPr lang="ko-KR" altLang="ko-KR" dirty="0" err="1"/>
              <a:t>미래에셋자산운용이</a:t>
            </a:r>
            <a:r>
              <a:rPr lang="ko-KR" altLang="ko-KR" dirty="0"/>
              <a:t> 우선주를 인수하는 </a:t>
            </a:r>
            <a:r>
              <a:rPr lang="ko-KR" altLang="ko-KR" b="1" dirty="0"/>
              <a:t>외부 투자 유치</a:t>
            </a:r>
            <a:r>
              <a:rPr lang="en-US" altLang="ko-KR" b="1" dirty="0"/>
              <a:t> (</a:t>
            </a:r>
            <a:r>
              <a:rPr lang="ko-KR" altLang="en-US" b="1" dirty="0" err="1"/>
              <a:t>미래에셋자산운용</a:t>
            </a:r>
            <a:r>
              <a:rPr lang="ko-KR" altLang="en-US" b="1" dirty="0"/>
              <a:t> → </a:t>
            </a:r>
            <a:r>
              <a:rPr lang="en-US" altLang="ko-KR" b="1" dirty="0"/>
              <a:t>DADA MNC)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b="1" dirty="0"/>
              <a:t>기사</a:t>
            </a:r>
            <a:r>
              <a:rPr lang="en-US" altLang="ko-KR" b="1" dirty="0"/>
              <a:t>: https://cbiz.chosun.com/svc/bulletin/bulletin_art.html?contid=2021031002316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ko-KR" b="1" dirty="0" err="1"/>
              <a:t>Artworks</a:t>
            </a:r>
            <a:r>
              <a:rPr lang="ko-KR" altLang="ko-KR" b="1" dirty="0"/>
              <a:t> </a:t>
            </a:r>
            <a:r>
              <a:rPr lang="ko-KR" altLang="ko-KR" b="1" dirty="0" err="1"/>
              <a:t>Korea</a:t>
            </a:r>
            <a:r>
              <a:rPr lang="ko-KR" altLang="ko-KR" b="1" dirty="0"/>
              <a:t>:</a:t>
            </a:r>
            <a:r>
              <a:rPr lang="ko-KR" altLang="ko-KR" dirty="0"/>
              <a:t> 기존 투자자인 CJ </a:t>
            </a:r>
            <a:r>
              <a:rPr lang="ko-KR" altLang="ko-KR" dirty="0" err="1"/>
              <a:t>E&amp;M이</a:t>
            </a:r>
            <a:r>
              <a:rPr lang="ko-KR" altLang="ko-KR" dirty="0"/>
              <a:t> 참여하는 </a:t>
            </a:r>
            <a:r>
              <a:rPr lang="ko-KR" altLang="ko-KR" b="1" dirty="0"/>
              <a:t>주주배정 증자</a:t>
            </a:r>
            <a:endParaRPr lang="en-US" altLang="ko-KR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b="1" dirty="0"/>
              <a:t>기사</a:t>
            </a:r>
            <a:r>
              <a:rPr lang="en-US" altLang="ko-KR" b="1" dirty="0"/>
              <a:t>: https://dealsite.co.kr/articles/96110</a:t>
            </a:r>
            <a:endParaRPr lang="ko-KR" altLang="ko-KR" dirty="0"/>
          </a:p>
          <a:p>
            <a:endParaRPr lang="ko-KR" altLang="ko-KR" dirty="0"/>
          </a:p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708D84-D81D-6916-1965-975C080FF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549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1FF2-D2E0-E244-FF01-4937D5C0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72ECD8-0375-81EC-832A-D33F1F945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284E23-5A31-21F4-E9FE-3A0F3ACCF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7C976-43D7-1289-64F3-F43876E78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7631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97122-C3FA-4591-B8CA-FA79646D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537EC8-DD41-2D8F-DBC4-A059410B0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91F8A0-4011-F566-DB0D-8635A2D33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① </a:t>
            </a:r>
            <a:r>
              <a:rPr lang="ko-KR" altLang="ko-KR" b="1" dirty="0" err="1"/>
              <a:t>쇼노트</a:t>
            </a:r>
            <a:r>
              <a:rPr lang="ko-KR" altLang="ko-KR" b="1" dirty="0"/>
              <a:t>: 아티스트 매니지먼트에서 공연사업으로 확</a:t>
            </a:r>
            <a:r>
              <a:rPr lang="ko-KR" altLang="ko-KR" dirty="0"/>
              <a:t>장</a:t>
            </a:r>
            <a:endParaRPr lang="en-US" altLang="ko-KR" dirty="0"/>
          </a:p>
          <a:p>
            <a:r>
              <a:rPr lang="ko-KR" altLang="ko-KR" dirty="0" err="1"/>
              <a:t>스타쉽이</a:t>
            </a:r>
            <a:r>
              <a:rPr lang="ko-KR" altLang="ko-KR" dirty="0"/>
              <a:t> 쇼노트를 </a:t>
            </a:r>
            <a:r>
              <a:rPr lang="ko-KR" altLang="ko-KR" b="1" dirty="0"/>
              <a:t>268억 원에 현금 인수</a:t>
            </a:r>
            <a:r>
              <a:rPr lang="ko-KR" altLang="ko-KR" dirty="0"/>
              <a:t>한 거래로, 매니지먼트 사업과 공연사업을 연결하는 확장 사례</a:t>
            </a:r>
            <a:endParaRPr lang="en-US" altLang="ko-KR" dirty="0"/>
          </a:p>
          <a:p>
            <a:r>
              <a:rPr lang="ko-KR" altLang="en-US" dirty="0"/>
              <a:t>기사</a:t>
            </a:r>
            <a:r>
              <a:rPr lang="en-US" altLang="ko-KR" dirty="0"/>
              <a:t>: https://www.seoul.co.kr/news/economy/industry/2019/12/25/20191225022029</a:t>
            </a:r>
          </a:p>
          <a:p>
            <a:endParaRPr lang="en-US" altLang="ko-KR" dirty="0"/>
          </a:p>
          <a:p>
            <a:r>
              <a:rPr lang="ko-KR" altLang="en-US" b="1" dirty="0"/>
              <a:t>② </a:t>
            </a:r>
            <a:r>
              <a:rPr lang="ko-KR" altLang="ko-KR" b="1" dirty="0" err="1"/>
              <a:t>BH엔터테인먼트·매니지먼트</a:t>
            </a:r>
            <a:r>
              <a:rPr lang="ko-KR" altLang="ko-KR" b="1" dirty="0"/>
              <a:t> 숲: 배우 매니지먼트 기반 확보</a:t>
            </a:r>
            <a:endParaRPr lang="en-US" altLang="ko-KR" b="1" dirty="0"/>
          </a:p>
          <a:p>
            <a:r>
              <a:rPr lang="ko-KR" altLang="ko-KR" dirty="0" err="1"/>
              <a:t>BH는</a:t>
            </a:r>
            <a:r>
              <a:rPr lang="ko-KR" altLang="ko-KR" dirty="0"/>
              <a:t> 잔여지분 70%를 인수해 완전자회사로 만들고, 숲은 지분 99.4%를 확보한 거래</a:t>
            </a:r>
            <a:endParaRPr lang="en-US" altLang="ko-KR" dirty="0"/>
          </a:p>
          <a:p>
            <a:r>
              <a:rPr lang="ko-KR" altLang="ko-KR" dirty="0"/>
              <a:t>음악 레이블뿐 아니라 </a:t>
            </a:r>
            <a:r>
              <a:rPr lang="ko-KR" altLang="ko-KR" b="1" dirty="0"/>
              <a:t>배우 매니지먼트까지 사업 기반을 넓힌 사례</a:t>
            </a:r>
            <a:endParaRPr lang="en-US" altLang="ko-KR" dirty="0"/>
          </a:p>
          <a:p>
            <a:r>
              <a:rPr lang="ko-KR" altLang="en-US" dirty="0"/>
              <a:t>기사</a:t>
            </a:r>
            <a:r>
              <a:rPr lang="en-US" altLang="ko-KR" dirty="0"/>
              <a:t>: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배우 매니지먼트사 인수</a:t>
            </a:r>
            <a:r>
              <a:rPr lang="en-US" altLang="ko-KR" dirty="0"/>
              <a:t>: https://host.cine21.com/news/view/?idx=1&amp;mag_id=92132 / https://view.asiae.co.kr/article/2019010209280567509</a:t>
            </a:r>
          </a:p>
          <a:p>
            <a:endParaRPr lang="en-US" altLang="ko-KR" dirty="0"/>
          </a:p>
          <a:p>
            <a:r>
              <a:rPr lang="ko-KR" altLang="en-US" b="1" dirty="0"/>
              <a:t>③ </a:t>
            </a:r>
            <a:r>
              <a:rPr lang="ko-KR" altLang="ko-KR" b="1" dirty="0" err="1"/>
              <a:t>스타쉽·에이큐브</a:t>
            </a:r>
            <a:r>
              <a:rPr lang="ko-KR" altLang="ko-KR" b="1" dirty="0"/>
              <a:t>: 음악 레이블과 아티스트 제작 기반 확대</a:t>
            </a:r>
            <a:endParaRPr lang="en-US" altLang="ko-KR" b="1" dirty="0"/>
          </a:p>
          <a:p>
            <a:r>
              <a:rPr lang="ko-KR" altLang="ko-KR" dirty="0" err="1"/>
              <a:t>로엔은</a:t>
            </a:r>
            <a:r>
              <a:rPr lang="ko-KR" altLang="ko-KR" dirty="0"/>
              <a:t> 2013년 </a:t>
            </a:r>
            <a:r>
              <a:rPr lang="ko-KR" altLang="ko-KR" dirty="0" err="1"/>
              <a:t>스타쉽</a:t>
            </a:r>
            <a:r>
              <a:rPr lang="ko-KR" altLang="ko-KR" dirty="0"/>
              <a:t> 지분 70%를 </a:t>
            </a:r>
            <a:r>
              <a:rPr lang="ko-KR" altLang="ko-KR" b="1" dirty="0"/>
              <a:t>150억 원</a:t>
            </a:r>
            <a:r>
              <a:rPr lang="ko-KR" altLang="ko-KR" dirty="0"/>
              <a:t>에 인수</a:t>
            </a:r>
            <a:endParaRPr lang="en-US" altLang="ko-KR" dirty="0"/>
          </a:p>
          <a:p>
            <a:r>
              <a:rPr lang="ko-KR" altLang="ko-KR" dirty="0"/>
              <a:t>당시 보도는 독립 레이블 운영을 유지하면서 콘텐츠 제작과 마케팅에서 협력하는 구조를 설명</a:t>
            </a:r>
            <a:endParaRPr lang="en-US" altLang="ko-KR" dirty="0"/>
          </a:p>
          <a:p>
            <a:r>
              <a:rPr lang="ko-KR" altLang="en-US" dirty="0"/>
              <a:t>기사</a:t>
            </a:r>
            <a:endParaRPr lang="en-US" altLang="ko-KR" dirty="0"/>
          </a:p>
          <a:p>
            <a:r>
              <a:rPr lang="ko-KR" altLang="en-US" dirty="0"/>
              <a:t>로엔 </a:t>
            </a:r>
            <a:r>
              <a:rPr lang="ko-KR" altLang="en-US" dirty="0" err="1"/>
              <a:t>스타쉽</a:t>
            </a:r>
            <a:r>
              <a:rPr lang="ko-KR" altLang="en-US" dirty="0"/>
              <a:t> 인수</a:t>
            </a:r>
            <a:r>
              <a:rPr lang="en-US" altLang="ko-KR" dirty="0"/>
              <a:t>: https://www.sportsworldi.com/newsView/20131218025133</a:t>
            </a:r>
          </a:p>
          <a:p>
            <a:r>
              <a:rPr lang="ko-KR" altLang="en-US" dirty="0"/>
              <a:t>로엔 </a:t>
            </a:r>
            <a:r>
              <a:rPr lang="ko-KR" altLang="en-US" dirty="0" err="1"/>
              <a:t>에이큐브</a:t>
            </a:r>
            <a:r>
              <a:rPr lang="ko-KR" altLang="en-US" dirty="0"/>
              <a:t> 지분 획득</a:t>
            </a:r>
            <a:r>
              <a:rPr lang="en-US" altLang="ko-KR" dirty="0"/>
              <a:t>: https://www.etoday.co.kr/news/view/1241387</a:t>
            </a:r>
          </a:p>
          <a:p>
            <a:endParaRPr lang="en-US" altLang="ko-KR" dirty="0"/>
          </a:p>
          <a:p>
            <a:r>
              <a:rPr lang="ko-KR" altLang="en-US" b="1" dirty="0"/>
              <a:t>④ </a:t>
            </a:r>
            <a:r>
              <a:rPr lang="ko-KR" altLang="ko-KR" b="1" dirty="0"/>
              <a:t>이담엔터테인먼트: 기존 투자기업에 대한 지분 확대</a:t>
            </a:r>
            <a:endParaRPr lang="en-US" altLang="ko-KR" b="1" dirty="0"/>
          </a:p>
          <a:p>
            <a:r>
              <a:rPr lang="ko-KR" altLang="ko-KR" dirty="0"/>
              <a:t>2022년 지분 </a:t>
            </a:r>
            <a:r>
              <a:rPr lang="ko-KR" altLang="ko-KR" b="1" dirty="0"/>
              <a:t>12.5%를 130억 원에 추가 취득</a:t>
            </a:r>
            <a:r>
              <a:rPr lang="ko-KR" altLang="ko-KR" dirty="0"/>
              <a:t>한 사례</a:t>
            </a:r>
            <a:endParaRPr lang="en-US" altLang="ko-KR" dirty="0"/>
          </a:p>
          <a:p>
            <a:r>
              <a:rPr lang="ko-KR" altLang="en-US" dirty="0"/>
              <a:t>기사</a:t>
            </a:r>
            <a:r>
              <a:rPr lang="en-US" altLang="ko-KR" dirty="0"/>
              <a:t>: https://www.hankyung.com/article/202001066095H</a:t>
            </a:r>
          </a:p>
          <a:p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ko-KR" dirty="0"/>
              <a:t>카카오의 로엔 인수는 2016년 3월 완료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643B2-034E-CEEA-15BA-38760B7C3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965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CE77-88E2-BE0D-215B-03088B06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A1151B-7063-0ADE-A9CA-0BB0717B3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238114-5616-26E2-5B4D-580FAEFE8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① </a:t>
            </a:r>
            <a:r>
              <a:rPr lang="ko-KR" altLang="ko-KR" b="1" dirty="0" err="1"/>
              <a:t>카카오브레인</a:t>
            </a:r>
            <a:r>
              <a:rPr lang="ko-KR" altLang="ko-KR" b="1" dirty="0"/>
              <a:t> — AI 개발을 위한 모회사의 반복 출자</a:t>
            </a:r>
            <a:endParaRPr lang="ko-KR" altLang="ko-KR" dirty="0"/>
          </a:p>
          <a:p>
            <a:r>
              <a:rPr lang="ko-KR" altLang="ko-KR" dirty="0"/>
              <a:t>카카오는 AI 자회사 </a:t>
            </a:r>
            <a:r>
              <a:rPr lang="ko-KR" altLang="ko-KR" dirty="0" err="1"/>
              <a:t>카카오브레인의</a:t>
            </a:r>
            <a:r>
              <a:rPr lang="ko-KR" altLang="ko-KR" dirty="0"/>
              <a:t> 유상증자에 참여해 기술 개발 자금을 공</a:t>
            </a:r>
            <a:r>
              <a:rPr lang="ko-KR" altLang="en-US" dirty="0"/>
              <a:t>급</a:t>
            </a:r>
            <a:endParaRPr lang="en-US" altLang="ko-KR" dirty="0"/>
          </a:p>
          <a:p>
            <a:r>
              <a:rPr lang="ko-KR" altLang="ko-KR" dirty="0"/>
              <a:t>대표적으로 2023년에는 </a:t>
            </a:r>
            <a:r>
              <a:rPr lang="ko-KR" altLang="ko-KR" b="1" dirty="0"/>
              <a:t>700억 원 규모의 주주배정 증자</a:t>
            </a:r>
            <a:r>
              <a:rPr lang="ko-KR" altLang="ko-KR" dirty="0"/>
              <a:t>를 결정했으며, </a:t>
            </a:r>
            <a:r>
              <a:rPr lang="ko-KR" altLang="ko-KR" dirty="0" err="1"/>
              <a:t>언어·이미지</a:t>
            </a:r>
            <a:r>
              <a:rPr lang="ko-KR" altLang="ko-KR" dirty="0"/>
              <a:t> 모델 고도화와 관련 인프라 개발이 목적</a:t>
            </a:r>
            <a:endParaRPr lang="en-US" altLang="ko-KR" dirty="0"/>
          </a:p>
          <a:p>
            <a:r>
              <a:rPr lang="ko-KR" altLang="ko-KR" dirty="0"/>
              <a:t>기존 기술 자회사에 자본을 공급해 AI 역량을 강화하는 PP 사례</a:t>
            </a:r>
          </a:p>
          <a:p>
            <a:pPr lvl="0"/>
            <a:r>
              <a:rPr lang="ko-KR" altLang="ko-KR" b="1" dirty="0" err="1"/>
              <a:t>더벨</a:t>
            </a:r>
            <a:r>
              <a:rPr lang="ko-KR" altLang="ko-KR" b="1" dirty="0"/>
              <a:t>, 2023.7.14:</a:t>
            </a:r>
            <a:r>
              <a:rPr lang="ko-KR" altLang="ko-KR" dirty="0"/>
              <a:t> </a:t>
            </a:r>
            <a:r>
              <a:rPr lang="ko-KR" altLang="ko-KR" dirty="0">
                <a:hlinkClick r:id="rId3"/>
              </a:rPr>
              <a:t>카카오, 브레인에 역대 최대 출자…AI 투자 강화 의지</a:t>
            </a:r>
            <a:endParaRPr lang="ko-KR" altLang="ko-KR" dirty="0"/>
          </a:p>
          <a:p>
            <a:pPr lvl="0"/>
            <a:r>
              <a:rPr lang="ko-KR" altLang="ko-KR" b="1" dirty="0" err="1"/>
              <a:t>이투데이</a:t>
            </a:r>
            <a:r>
              <a:rPr lang="ko-KR" altLang="ko-KR" b="1" dirty="0"/>
              <a:t>, 2023.7.13:</a:t>
            </a:r>
            <a:r>
              <a:rPr lang="ko-KR" altLang="ko-KR" dirty="0"/>
              <a:t> </a:t>
            </a:r>
            <a:r>
              <a:rPr lang="ko-KR" altLang="ko-KR" dirty="0">
                <a:hlinkClick r:id="rId4"/>
              </a:rPr>
              <a:t>카카오, 자회사 </a:t>
            </a:r>
            <a:r>
              <a:rPr lang="ko-KR" altLang="ko-KR" dirty="0" err="1">
                <a:hlinkClick r:id="rId4"/>
              </a:rPr>
              <a:t>카카오브레인</a:t>
            </a:r>
            <a:r>
              <a:rPr lang="ko-KR" altLang="ko-KR" dirty="0">
                <a:hlinkClick r:id="rId4"/>
              </a:rPr>
              <a:t> 700억 규모 유상증자 참여</a:t>
            </a:r>
            <a:endParaRPr lang="ko-KR" altLang="ko-KR" dirty="0"/>
          </a:p>
          <a:p>
            <a:endParaRPr lang="en-US" altLang="ko-KR" dirty="0"/>
          </a:p>
          <a:p>
            <a:r>
              <a:rPr lang="ko-KR" altLang="ko-KR" b="1" dirty="0"/>
              <a:t>② </a:t>
            </a:r>
            <a:r>
              <a:rPr lang="ko-KR" altLang="ko-KR" b="1" dirty="0" err="1"/>
              <a:t>그라운드X</a:t>
            </a:r>
            <a:r>
              <a:rPr lang="ko-KR" altLang="ko-KR" b="1" dirty="0"/>
              <a:t> — 계열 모회사를 통한 NFT 사업 운영자금 조달</a:t>
            </a:r>
            <a:endParaRPr lang="ko-KR" altLang="ko-KR" dirty="0"/>
          </a:p>
          <a:p>
            <a:r>
              <a:rPr lang="ko-KR" altLang="ko-KR" dirty="0" err="1"/>
              <a:t>그라운드X는</a:t>
            </a:r>
            <a:r>
              <a:rPr lang="ko-KR" altLang="ko-KR" dirty="0"/>
              <a:t> 2022년 </a:t>
            </a:r>
            <a:r>
              <a:rPr lang="ko-KR" altLang="ko-KR" b="1" dirty="0"/>
              <a:t>200억 원 규모의 제3자배정 유상증자</a:t>
            </a:r>
            <a:r>
              <a:rPr lang="ko-KR" altLang="ko-KR" dirty="0"/>
              <a:t>를 추진했으며, 신주 인수자는 모기업인 </a:t>
            </a:r>
            <a:r>
              <a:rPr lang="ko-KR" altLang="ko-KR" b="1" dirty="0" err="1"/>
              <a:t>크러스트유니버스</a:t>
            </a:r>
            <a:endParaRPr lang="en-US" altLang="ko-KR" b="1" dirty="0"/>
          </a:p>
          <a:p>
            <a:r>
              <a:rPr lang="ko-KR" altLang="ko-KR" dirty="0" err="1"/>
              <a:t>클레이튼</a:t>
            </a:r>
            <a:r>
              <a:rPr lang="ko-KR" altLang="ko-KR" dirty="0"/>
              <a:t> 관련 사업을 </a:t>
            </a:r>
            <a:r>
              <a:rPr lang="ko-KR" altLang="ko-KR" dirty="0" err="1"/>
              <a:t>크러스트로</a:t>
            </a:r>
            <a:r>
              <a:rPr lang="ko-KR" altLang="ko-KR" dirty="0"/>
              <a:t> 이관한 뒤 NFT 사업에 집중하기 위한 운영자금 조달로 보도</a:t>
            </a:r>
            <a:endParaRPr lang="en-US" altLang="ko-KR" dirty="0"/>
          </a:p>
          <a:p>
            <a:r>
              <a:rPr lang="ko-KR" altLang="ko-KR" dirty="0"/>
              <a:t>카카오 본사의 직접 출자와 구분되는, 계열 모회사를 통한 자금 공급 사례</a:t>
            </a:r>
          </a:p>
          <a:p>
            <a:pPr lvl="0"/>
            <a:r>
              <a:rPr lang="ko-KR" altLang="ko-KR" b="1" dirty="0" err="1"/>
              <a:t>아주경제</a:t>
            </a:r>
            <a:r>
              <a:rPr lang="ko-KR" altLang="ko-KR" b="1" dirty="0"/>
              <a:t>, 2022.3.2:</a:t>
            </a:r>
            <a:r>
              <a:rPr lang="ko-KR" altLang="ko-KR" dirty="0"/>
              <a:t> </a:t>
            </a:r>
            <a:r>
              <a:rPr lang="ko-KR" altLang="ko-KR" dirty="0" err="1">
                <a:hlinkClick r:id="rId5"/>
              </a:rPr>
              <a:t>그라운드X</a:t>
            </a:r>
            <a:r>
              <a:rPr lang="ko-KR" altLang="ko-KR" dirty="0">
                <a:hlinkClick r:id="rId5"/>
              </a:rPr>
              <a:t>, 200억원 규모 유상증자…운영자금 조달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9281D-96B6-4D35-6150-29B1BEE28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6390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36B3E-BD14-88C1-BA0A-18A9203A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D4D47E-C38B-B211-64C8-40112617A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70CB5A-8546-EEE3-1A90-4AE74492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③ </a:t>
            </a:r>
            <a:r>
              <a:rPr lang="ko-KR" altLang="ko-KR" b="1" dirty="0" err="1"/>
              <a:t>프렌즈게임즈</a:t>
            </a:r>
            <a:r>
              <a:rPr lang="ko-KR" altLang="ko-KR" b="1" dirty="0"/>
              <a:t> — 외부 금융투자자를 통한 개발자금 확보</a:t>
            </a:r>
            <a:endParaRPr lang="ko-KR" altLang="ko-KR" dirty="0"/>
          </a:p>
          <a:p>
            <a:r>
              <a:rPr lang="ko-KR" altLang="ko-KR" dirty="0" err="1"/>
              <a:t>카카오게임즈의</a:t>
            </a:r>
            <a:r>
              <a:rPr lang="ko-KR" altLang="ko-KR" dirty="0"/>
              <a:t> 개발 자회사 </a:t>
            </a:r>
            <a:r>
              <a:rPr lang="ko-KR" altLang="ko-KR" dirty="0" err="1"/>
              <a:t>프렌즈게임즈는</a:t>
            </a:r>
            <a:r>
              <a:rPr lang="ko-KR" altLang="ko-KR" dirty="0"/>
              <a:t> 2018년 4월 </a:t>
            </a:r>
            <a:r>
              <a:rPr lang="ko-KR" altLang="ko-KR" b="1" dirty="0"/>
              <a:t>70억 원</a:t>
            </a:r>
            <a:r>
              <a:rPr lang="ko-KR" altLang="ko-KR" dirty="0"/>
              <a:t>, 8월 </a:t>
            </a:r>
            <a:r>
              <a:rPr lang="ko-KR" altLang="ko-KR" b="1" dirty="0"/>
              <a:t>110억 원</a:t>
            </a:r>
            <a:r>
              <a:rPr lang="ko-KR" altLang="ko-KR" dirty="0"/>
              <a:t> 규모의 외부 투자를 유치</a:t>
            </a:r>
            <a:endParaRPr lang="en-US" altLang="ko-KR" dirty="0"/>
          </a:p>
          <a:p>
            <a:r>
              <a:rPr lang="ko-KR" altLang="ko-KR" dirty="0"/>
              <a:t>조달 목적은 개발 역량 강화와 성장 기반 확보</a:t>
            </a:r>
            <a:endParaRPr lang="en-US" altLang="ko-KR" dirty="0"/>
          </a:p>
          <a:p>
            <a:r>
              <a:rPr lang="ko-KR" altLang="ko-KR" dirty="0"/>
              <a:t>모회사 출자와 달리, </a:t>
            </a:r>
            <a:r>
              <a:rPr lang="ko-KR" altLang="ko-KR" b="1" dirty="0"/>
              <a:t>외부 금융투자자가 신주를 인수해 계열사에 자금을 공급한 PP 사례</a:t>
            </a:r>
            <a:endParaRPr lang="ko-KR" altLang="ko-KR" dirty="0"/>
          </a:p>
          <a:p>
            <a:pPr lvl="0"/>
            <a:r>
              <a:rPr lang="ko-KR" altLang="ko-KR" b="1" dirty="0" err="1"/>
              <a:t>ZDNet</a:t>
            </a:r>
            <a:r>
              <a:rPr lang="ko-KR" altLang="ko-KR" b="1" dirty="0"/>
              <a:t> </a:t>
            </a:r>
            <a:r>
              <a:rPr lang="ko-KR" altLang="ko-KR" b="1" dirty="0" err="1"/>
              <a:t>Korea</a:t>
            </a:r>
            <a:r>
              <a:rPr lang="ko-KR" altLang="ko-KR" b="1" dirty="0"/>
              <a:t>, 2018.8.21:</a:t>
            </a:r>
            <a:r>
              <a:rPr lang="ko-KR" altLang="ko-KR" dirty="0"/>
              <a:t> </a:t>
            </a:r>
            <a:r>
              <a:rPr lang="ko-KR" altLang="ko-KR" dirty="0" err="1">
                <a:hlinkClick r:id="rId3"/>
              </a:rPr>
              <a:t>프렌즈게임즈</a:t>
            </a:r>
            <a:r>
              <a:rPr lang="ko-KR" altLang="ko-KR" dirty="0">
                <a:hlinkClick r:id="rId3"/>
              </a:rPr>
              <a:t>, 110억 원 규모 투자 유치</a:t>
            </a:r>
            <a:endParaRPr lang="ko-KR" altLang="ko-KR" dirty="0"/>
          </a:p>
          <a:p>
            <a:endParaRPr lang="en-US" altLang="ko-KR" dirty="0"/>
          </a:p>
          <a:p>
            <a:r>
              <a:rPr lang="ko-KR" altLang="ko-KR" b="1" dirty="0"/>
              <a:t>④ </a:t>
            </a:r>
            <a:r>
              <a:rPr lang="ko-KR" altLang="ko-KR" b="1" dirty="0" err="1"/>
              <a:t>디케이테크인</a:t>
            </a:r>
            <a:r>
              <a:rPr lang="ko-KR" altLang="ko-KR" b="1" dirty="0"/>
              <a:t> — 기존 자회사에 대한 카카오의 반복 출자</a:t>
            </a:r>
            <a:endParaRPr lang="ko-KR" altLang="ko-KR" dirty="0"/>
          </a:p>
          <a:p>
            <a:r>
              <a:rPr lang="ko-KR" altLang="ko-KR" dirty="0"/>
              <a:t>제공 데이터에 기록된 </a:t>
            </a:r>
            <a:r>
              <a:rPr lang="ko-KR" altLang="ko-KR" dirty="0" err="1"/>
              <a:t>디케이테크인</a:t>
            </a:r>
            <a:r>
              <a:rPr lang="ko-KR" altLang="ko-KR" dirty="0"/>
              <a:t> PP 4건은 모두 </a:t>
            </a:r>
            <a:r>
              <a:rPr lang="ko-KR" altLang="ko-KR" b="1" dirty="0"/>
              <a:t>카카오 본사가 신주를 인수하는 거래</a:t>
            </a:r>
            <a:endParaRPr lang="en-US" altLang="ko-KR" b="1" dirty="0"/>
          </a:p>
          <a:p>
            <a:r>
              <a:rPr lang="ko-KR" altLang="ko-KR" dirty="0"/>
              <a:t>공식 보고서에서도 </a:t>
            </a:r>
            <a:r>
              <a:rPr lang="ko-KR" altLang="ko-KR" b="1" dirty="0"/>
              <a:t>2022년 30억 원, 2023년 49.5억 원, 2024년 100억 원</a:t>
            </a:r>
            <a:r>
              <a:rPr lang="ko-KR" altLang="ko-KR" dirty="0"/>
              <a:t>의 증자 참여가 확인</a:t>
            </a:r>
            <a:endParaRPr lang="en-US" altLang="ko-KR" dirty="0"/>
          </a:p>
          <a:p>
            <a:pPr lvl="0"/>
            <a:r>
              <a:rPr lang="ko-KR" altLang="ko-KR" dirty="0">
                <a:hlinkClick r:id="rId4"/>
              </a:rPr>
              <a:t>카카오 2022년 기업지배구조보고서 — 2022년 10월 30억 원 증자 참여</a:t>
            </a:r>
            <a:endParaRPr lang="ko-KR" altLang="ko-KR" dirty="0"/>
          </a:p>
          <a:p>
            <a:pPr lvl="0"/>
            <a:r>
              <a:rPr lang="ko-KR" altLang="ko-KR" dirty="0">
                <a:hlinkClick r:id="rId5"/>
              </a:rPr>
              <a:t>카카오 2023년 기업지배구조보고서 — 2023년 7월 49.5억 원 증자 참여</a:t>
            </a:r>
            <a:endParaRPr lang="ko-KR" altLang="ko-KR" dirty="0"/>
          </a:p>
          <a:p>
            <a:pPr lvl="0"/>
            <a:r>
              <a:rPr lang="ko-KR" altLang="ko-KR" dirty="0">
                <a:hlinkClick r:id="rId6"/>
              </a:rPr>
              <a:t>카카오 2024년 기업지배구조 공시 — 2024년 2월 100억 원 증자 참여</a:t>
            </a:r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63CE-0CB9-088E-98F8-9F0F8949E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86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9C3F-0EF4-D998-1B00-0716BE51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781B27-32D3-B99B-8667-DA5560F90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D3FEC3-56D7-A5C2-414F-26F4195B8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① </a:t>
            </a:r>
            <a:r>
              <a:rPr lang="ko-KR" altLang="ko-KR" b="1" dirty="0" err="1"/>
              <a:t>밸류포션</a:t>
            </a:r>
            <a:r>
              <a:rPr lang="ko-KR" altLang="ko-KR" b="1" dirty="0"/>
              <a:t>: </a:t>
            </a:r>
            <a:r>
              <a:rPr lang="ko-KR" altLang="ko-KR" b="1" dirty="0" err="1"/>
              <a:t>PP를</a:t>
            </a:r>
            <a:r>
              <a:rPr lang="ko-KR" altLang="ko-KR" b="1" dirty="0"/>
              <a:t> 통한 자본 공급 이후, 계열사 </a:t>
            </a:r>
            <a:r>
              <a:rPr lang="ko-KR" altLang="ko-KR" b="1" dirty="0" err="1"/>
              <a:t>인수·통합</a:t>
            </a:r>
            <a:endParaRPr lang="ko-KR" altLang="ko-KR" dirty="0"/>
          </a:p>
          <a:p>
            <a:r>
              <a:rPr lang="ko-KR" altLang="ko-KR" dirty="0"/>
              <a:t>2016년 </a:t>
            </a:r>
            <a:r>
              <a:rPr lang="ko-KR" altLang="ko-KR" dirty="0" err="1"/>
              <a:t>밸류포션은</a:t>
            </a:r>
            <a:r>
              <a:rPr lang="ko-KR" altLang="ko-KR" dirty="0"/>
              <a:t> </a:t>
            </a:r>
            <a:r>
              <a:rPr lang="ko-KR" altLang="ko-KR" b="1" dirty="0"/>
              <a:t>약 6.51억 원 규모의 신주 발행</a:t>
            </a:r>
            <a:r>
              <a:rPr lang="ko-KR" altLang="ko-KR" dirty="0"/>
              <a:t>을 진</a:t>
            </a:r>
            <a:r>
              <a:rPr lang="ko-KR" altLang="en-US" dirty="0"/>
              <a:t>행</a:t>
            </a:r>
            <a:endParaRPr lang="ko-KR" altLang="ko-KR" dirty="0"/>
          </a:p>
          <a:p>
            <a:r>
              <a:rPr lang="ko-KR" altLang="ko-KR" dirty="0"/>
              <a:t>여기서 </a:t>
            </a:r>
            <a:r>
              <a:rPr lang="ko-KR" altLang="ko-KR" b="1" dirty="0"/>
              <a:t>6.51억 원 전부가 카카오 측 투자금은 아</a:t>
            </a:r>
            <a:r>
              <a:rPr lang="ko-KR" altLang="en-US" b="1" dirty="0"/>
              <a:t>님</a:t>
            </a:r>
            <a:endParaRPr lang="en-US" altLang="ko-KR" b="1" dirty="0"/>
          </a:p>
          <a:p>
            <a:r>
              <a:rPr lang="ko-KR" altLang="ko-KR" dirty="0"/>
              <a:t>거래 설명에 따르면 케이벤처그룹은 신주 990주를 주당 10만2,000원에 인수해 </a:t>
            </a:r>
            <a:r>
              <a:rPr lang="ko-KR" altLang="ko-KR" b="1" dirty="0"/>
              <a:t>약 1.01억 원</a:t>
            </a:r>
            <a:r>
              <a:rPr lang="ko-KR" altLang="ko-KR" dirty="0"/>
              <a:t>을 출자했습니다. 나머지는 임직원 등 다른 참여자의 자금입니다.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2017년에는 </a:t>
            </a:r>
            <a:r>
              <a:rPr lang="ko-KR" altLang="ko-KR" dirty="0" err="1"/>
              <a:t>포도트리가</a:t>
            </a:r>
            <a:r>
              <a:rPr lang="ko-KR" altLang="ko-KR" dirty="0"/>
              <a:t> </a:t>
            </a:r>
            <a:r>
              <a:rPr lang="ko-KR" altLang="ko-KR" dirty="0" err="1"/>
              <a:t>밸류포션</a:t>
            </a:r>
            <a:r>
              <a:rPr lang="ko-KR" altLang="ko-KR" dirty="0"/>
              <a:t> 지분을 </a:t>
            </a:r>
            <a:r>
              <a:rPr lang="ko-KR" altLang="ko-KR" b="1" dirty="0"/>
              <a:t>약 45억 원에 인수해 100% 자회사로 편입</a:t>
            </a:r>
            <a:r>
              <a:rPr lang="ko-KR" altLang="ko-KR" dirty="0"/>
              <a:t>했습니다. 이 중 </a:t>
            </a:r>
            <a:r>
              <a:rPr lang="ko-KR" altLang="ko-KR" dirty="0" err="1"/>
              <a:t>카카오인베스트먼트가</a:t>
            </a:r>
            <a:r>
              <a:rPr lang="ko-KR" altLang="ko-KR" dirty="0"/>
              <a:t> 보유한 지분도 인수했으므로, </a:t>
            </a:r>
            <a:endParaRPr lang="en-US" altLang="ko-KR" dirty="0"/>
          </a:p>
          <a:p>
            <a:r>
              <a:rPr lang="ko-KR" altLang="ko-KR" b="1" dirty="0"/>
              <a:t>계열사 간 지분 이전과 외부 주주 지분 인수가 결합된 거래</a:t>
            </a:r>
            <a:r>
              <a:rPr lang="ko-KR" altLang="ko-KR" dirty="0"/>
              <a:t>입니다. 당시 보도는 카카오페이지 이용자 기반을 활용한 </a:t>
            </a:r>
            <a:r>
              <a:rPr lang="ko-KR" altLang="ko-KR" dirty="0" err="1"/>
              <a:t>광고·마케팅</a:t>
            </a:r>
            <a:r>
              <a:rPr lang="ko-KR" altLang="ko-KR" dirty="0"/>
              <a:t> 사업 시너지를 설명합니다. </a:t>
            </a:r>
            <a:endParaRPr lang="en-US" altLang="ko-KR" dirty="0"/>
          </a:p>
          <a:p>
            <a:r>
              <a:rPr lang="ko-KR" altLang="ko-KR" dirty="0" err="1">
                <a:hlinkClick r:id="rId3"/>
              </a:rPr>
              <a:t>더벨</a:t>
            </a:r>
            <a:r>
              <a:rPr lang="ko-KR" altLang="ko-KR" dirty="0">
                <a:hlinkClick r:id="rId3"/>
              </a:rPr>
              <a:t>, 2017.11.22 — 카카오 사업재편, 여전히 ‘현재진행형’</a:t>
            </a:r>
            <a:endParaRPr lang="ko-KR" altLang="ko-KR" dirty="0"/>
          </a:p>
          <a:p>
            <a:r>
              <a:rPr lang="ko-KR" altLang="ko-KR" b="1" dirty="0"/>
              <a:t>분석 포인트:</a:t>
            </a:r>
            <a:r>
              <a:rPr lang="ko-KR" altLang="ko-KR" dirty="0"/>
              <a:t> 동일 기업에서 ‘신주 발행을 통한 자금 조달 → 기존 주식 인수를 통한 소유구조 </a:t>
            </a:r>
            <a:r>
              <a:rPr lang="ko-KR" altLang="ko-KR" dirty="0" err="1"/>
              <a:t>재편’이</a:t>
            </a:r>
            <a:r>
              <a:rPr lang="ko-KR" altLang="ko-KR" dirty="0"/>
              <a:t> 이어졌다는 점에서, M&amp;A·PP 비교에 가장 적합한 사례</a:t>
            </a:r>
          </a:p>
          <a:p>
            <a:endParaRPr lang="en-US" altLang="ko-KR" b="1" dirty="0"/>
          </a:p>
          <a:p>
            <a:r>
              <a:rPr lang="ko-KR" altLang="ko-KR" b="1" dirty="0"/>
              <a:t>② JOH: </a:t>
            </a:r>
            <a:r>
              <a:rPr lang="ko-KR" altLang="ko-KR" b="1" dirty="0" err="1"/>
              <a:t>브랜드·디자인</a:t>
            </a:r>
            <a:r>
              <a:rPr lang="ko-KR" altLang="ko-KR" b="1" dirty="0"/>
              <a:t> 역량을 기존 사업에 결합</a:t>
            </a:r>
            <a:endParaRPr lang="ko-KR" altLang="ko-KR" dirty="0"/>
          </a:p>
          <a:p>
            <a:r>
              <a:rPr lang="ko-KR" altLang="ko-KR" dirty="0"/>
              <a:t>2018년 JOH 지분 100%를 </a:t>
            </a:r>
            <a:r>
              <a:rPr lang="ko-KR" altLang="ko-KR" b="1" dirty="0"/>
              <a:t>293억 원에 인수</a:t>
            </a:r>
            <a:r>
              <a:rPr lang="ko-KR" altLang="ko-KR" dirty="0"/>
              <a:t>한 거래로, </a:t>
            </a:r>
            <a:r>
              <a:rPr lang="ko-KR" altLang="ko-KR" dirty="0" err="1"/>
              <a:t>Cat</a:t>
            </a:r>
            <a:r>
              <a:rPr lang="ko-KR" altLang="ko-KR" dirty="0"/>
              <a:t> 7에서 가장 큰 금액</a:t>
            </a:r>
            <a:endParaRPr lang="en-US" altLang="ko-KR" dirty="0"/>
          </a:p>
          <a:p>
            <a:r>
              <a:rPr lang="ko-KR" altLang="ko-KR" dirty="0" err="1"/>
              <a:t>카카오인베스트먼트</a:t>
            </a:r>
            <a:r>
              <a:rPr lang="ko-KR" altLang="ko-KR" dirty="0"/>
              <a:t> 보유 지분을 </a:t>
            </a:r>
            <a:r>
              <a:rPr lang="ko-KR" altLang="ko-KR" b="1" dirty="0"/>
              <a:t>133억 원</a:t>
            </a:r>
            <a:r>
              <a:rPr lang="ko-KR" altLang="ko-KR" dirty="0"/>
              <a:t>, 기타 주주 지분을 </a:t>
            </a:r>
            <a:r>
              <a:rPr lang="ko-KR" altLang="ko-KR" b="1" dirty="0"/>
              <a:t>160억 원</a:t>
            </a:r>
            <a:r>
              <a:rPr lang="ko-KR" altLang="ko-KR" dirty="0"/>
              <a:t>에 취득한 구조</a:t>
            </a:r>
            <a:endParaRPr lang="en-US" altLang="ko-KR" dirty="0"/>
          </a:p>
          <a:p>
            <a:r>
              <a:rPr lang="ko-KR" altLang="ko-KR" dirty="0"/>
              <a:t>당시 기사는 브랜드 가치 향상과 </a:t>
            </a:r>
            <a:r>
              <a:rPr lang="ko-KR" altLang="ko-KR" dirty="0" err="1"/>
              <a:t>카카오프렌즈</a:t>
            </a:r>
            <a:r>
              <a:rPr lang="ko-KR" altLang="ko-KR" dirty="0"/>
              <a:t> 등 오프라인 리테일 사업의 시너지를 인수 배경으로 설명합니다.</a:t>
            </a:r>
            <a:endParaRPr lang="en-US" altLang="ko-KR" dirty="0"/>
          </a:p>
          <a:p>
            <a:r>
              <a:rPr lang="ko-KR" altLang="ko-KR" dirty="0"/>
              <a:t> </a:t>
            </a:r>
            <a:r>
              <a:rPr lang="ko-KR" altLang="ko-KR" dirty="0">
                <a:hlinkClick r:id="rId4"/>
              </a:rPr>
              <a:t>아시아경제, 2018.3.19 — 카카오, </a:t>
            </a:r>
            <a:r>
              <a:rPr lang="ko-KR" altLang="ko-KR" dirty="0" err="1">
                <a:hlinkClick r:id="rId4"/>
              </a:rPr>
              <a:t>조수용</a:t>
            </a:r>
            <a:r>
              <a:rPr lang="ko-KR" altLang="ko-KR" dirty="0">
                <a:hlinkClick r:id="rId4"/>
              </a:rPr>
              <a:t> 대표가 창업한 ‘JOH’ 293억에 샀다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이후 </a:t>
            </a:r>
            <a:r>
              <a:rPr lang="ko-KR" altLang="ko-KR" dirty="0" err="1"/>
              <a:t>카카오프렌즈와의</a:t>
            </a:r>
            <a:r>
              <a:rPr lang="ko-KR" altLang="ko-KR" dirty="0"/>
              <a:t> 흡수합병도 발표됐습니다</a:t>
            </a:r>
            <a:endParaRPr lang="en-US" altLang="ko-KR" dirty="0"/>
          </a:p>
          <a:p>
            <a:r>
              <a:rPr lang="ko-KR" altLang="ko-KR" dirty="0"/>
              <a:t> </a:t>
            </a:r>
            <a:r>
              <a:rPr lang="ko-KR" altLang="ko-KR" dirty="0">
                <a:hlinkClick r:id="rId5"/>
              </a:rPr>
              <a:t>뉴스토마토, 2018.5.14 — </a:t>
            </a:r>
            <a:r>
              <a:rPr lang="ko-KR" altLang="ko-KR" dirty="0" err="1">
                <a:hlinkClick r:id="rId5"/>
              </a:rPr>
              <a:t>카카오프렌즈와</a:t>
            </a:r>
            <a:r>
              <a:rPr lang="ko-KR" altLang="ko-KR" dirty="0">
                <a:hlinkClick r:id="rId5"/>
              </a:rPr>
              <a:t> </a:t>
            </a:r>
            <a:r>
              <a:rPr lang="ko-KR" altLang="ko-KR" dirty="0" err="1">
                <a:hlinkClick r:id="rId5"/>
              </a:rPr>
              <a:t>JOH의</a:t>
            </a:r>
            <a:r>
              <a:rPr lang="ko-KR" altLang="ko-KR" dirty="0">
                <a:hlinkClick r:id="rId5"/>
              </a:rPr>
              <a:t> 만남…</a:t>
            </a:r>
            <a:r>
              <a:rPr lang="ko-KR" altLang="ko-KR" dirty="0" err="1">
                <a:hlinkClick r:id="rId5"/>
              </a:rPr>
              <a:t>캐릭터·브랜딩</a:t>
            </a:r>
            <a:r>
              <a:rPr lang="ko-KR" altLang="ko-KR" dirty="0">
                <a:hlinkClick r:id="rId5"/>
              </a:rPr>
              <a:t> 시너지 기대</a:t>
            </a:r>
            <a:endParaRPr lang="ko-KR" altLang="ko-KR" dirty="0"/>
          </a:p>
          <a:p>
            <a:r>
              <a:rPr lang="ko-KR" altLang="ko-KR" b="1" dirty="0"/>
              <a:t>분석 포인트:</a:t>
            </a:r>
            <a:r>
              <a:rPr lang="ko-KR" altLang="ko-KR" dirty="0"/>
              <a:t> 단순한 신규 외부기업 인수보다 </a:t>
            </a:r>
            <a:r>
              <a:rPr lang="ko-KR" altLang="ko-KR" b="1" dirty="0"/>
              <a:t>기존 투자기업의 완전자회사화와 사업 통합</a:t>
            </a:r>
            <a:r>
              <a:rPr lang="ko-KR" altLang="ko-KR" dirty="0"/>
              <a:t>이라는 성격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b="1" dirty="0"/>
              <a:t>③ </a:t>
            </a:r>
            <a:r>
              <a:rPr lang="ko-KR" altLang="ko-KR" b="1" dirty="0" err="1"/>
              <a:t>플러스티브이</a:t>
            </a:r>
            <a:r>
              <a:rPr lang="ko-KR" altLang="ko-KR" b="1" dirty="0"/>
              <a:t>: </a:t>
            </a:r>
            <a:r>
              <a:rPr lang="ko-KR" altLang="ko-KR" b="1" dirty="0" err="1"/>
              <a:t>모빌리티와</a:t>
            </a:r>
            <a:r>
              <a:rPr lang="ko-KR" altLang="ko-KR" b="1" dirty="0"/>
              <a:t> 디지털 광고 역량의 결합</a:t>
            </a:r>
            <a:endParaRPr lang="ko-KR" altLang="ko-KR" dirty="0"/>
          </a:p>
          <a:p>
            <a:r>
              <a:rPr lang="ko-KR" altLang="ko-KR" dirty="0"/>
              <a:t>제공 데이터상 </a:t>
            </a:r>
            <a:r>
              <a:rPr lang="ko-KR" altLang="ko-KR" dirty="0" err="1"/>
              <a:t>카카오모빌리티가</a:t>
            </a:r>
            <a:r>
              <a:rPr lang="ko-KR" altLang="ko-KR" dirty="0"/>
              <a:t> 2021년 </a:t>
            </a:r>
            <a:r>
              <a:rPr lang="ko-KR" altLang="ko-KR" dirty="0" err="1"/>
              <a:t>플러스티브이를</a:t>
            </a:r>
            <a:r>
              <a:rPr lang="ko-KR" altLang="ko-KR" dirty="0"/>
              <a:t> </a:t>
            </a:r>
            <a:r>
              <a:rPr lang="ko-KR" altLang="ko-KR" b="1" dirty="0"/>
              <a:t>60억 원에 인수</a:t>
            </a:r>
            <a:r>
              <a:rPr lang="ko-KR" altLang="ko-KR" dirty="0"/>
              <a:t>한 사</a:t>
            </a:r>
            <a:r>
              <a:rPr lang="ko-KR" altLang="en-US" dirty="0"/>
              <a:t>례</a:t>
            </a:r>
            <a:endParaRPr lang="en-US" altLang="ko-KR" dirty="0"/>
          </a:p>
          <a:p>
            <a:r>
              <a:rPr lang="ko-KR" altLang="ko-KR" dirty="0"/>
              <a:t>시 기사도 경영권을 포함한 지분 100% 인수를 약 60억 원으로 보도했습니다. </a:t>
            </a:r>
            <a:r>
              <a:rPr lang="ko-KR" altLang="ko-KR" dirty="0" err="1"/>
              <a:t>플러스티브이는</a:t>
            </a:r>
            <a:r>
              <a:rPr lang="ko-KR" altLang="ko-KR" dirty="0"/>
              <a:t> 택시용 디지털 </a:t>
            </a:r>
            <a:r>
              <a:rPr lang="ko-KR" altLang="ko-KR" dirty="0" err="1"/>
              <a:t>정보·광고</a:t>
            </a:r>
            <a:r>
              <a:rPr lang="ko-KR" altLang="ko-KR" dirty="0"/>
              <a:t> 매체인 ‘</a:t>
            </a:r>
            <a:r>
              <a:rPr lang="ko-KR" altLang="ko-KR" dirty="0" err="1"/>
              <a:t>택시플러스’를</a:t>
            </a:r>
            <a:r>
              <a:rPr lang="ko-KR" altLang="ko-KR" dirty="0"/>
              <a:t> 개발한 회사입니다. </a:t>
            </a:r>
            <a:r>
              <a:rPr lang="ko-KR" altLang="ko-KR" dirty="0" err="1">
                <a:hlinkClick r:id="rId6"/>
              </a:rPr>
              <a:t>더벨</a:t>
            </a:r>
            <a:r>
              <a:rPr lang="ko-KR" altLang="ko-KR" dirty="0">
                <a:hlinkClick r:id="rId6"/>
              </a:rPr>
              <a:t>, 2021.10.20 — </a:t>
            </a:r>
            <a:r>
              <a:rPr lang="ko-KR" altLang="ko-KR" dirty="0" err="1">
                <a:hlinkClick r:id="rId6"/>
              </a:rPr>
              <a:t>카카오모빌리티</a:t>
            </a:r>
            <a:r>
              <a:rPr lang="ko-KR" altLang="ko-KR" dirty="0">
                <a:hlinkClick r:id="rId6"/>
              </a:rPr>
              <a:t>, 디지털 </a:t>
            </a:r>
            <a:r>
              <a:rPr lang="ko-KR" altLang="ko-KR" dirty="0" err="1">
                <a:hlinkClick r:id="rId6"/>
              </a:rPr>
              <a:t>사이니지</a:t>
            </a:r>
            <a:r>
              <a:rPr lang="ko-KR" altLang="ko-KR" dirty="0">
                <a:hlinkClick r:id="rId6"/>
              </a:rPr>
              <a:t> ‘PLUS TV’ 인수</a:t>
            </a:r>
            <a:endParaRPr lang="ko-KR" altLang="ko-KR" dirty="0"/>
          </a:p>
          <a:p>
            <a:r>
              <a:rPr lang="ko-KR" altLang="ko-KR" b="1" dirty="0"/>
              <a:t>분석 포인트:</a:t>
            </a:r>
            <a:r>
              <a:rPr lang="ko-KR" altLang="ko-KR" dirty="0"/>
              <a:t> 기존 </a:t>
            </a:r>
            <a:r>
              <a:rPr lang="ko-KR" altLang="ko-KR" dirty="0" err="1"/>
              <a:t>모빌리티</a:t>
            </a:r>
            <a:r>
              <a:rPr lang="ko-KR" altLang="ko-KR" dirty="0"/>
              <a:t> 서비스에 활용할 </a:t>
            </a:r>
            <a:r>
              <a:rPr lang="ko-KR" altLang="ko-KR" dirty="0" err="1"/>
              <a:t>광고·정보</a:t>
            </a:r>
            <a:r>
              <a:rPr lang="ko-KR" altLang="ko-KR" dirty="0"/>
              <a:t> 제공 역량을 인수한 사례로 볼 수 있습니다. 다만 후속 보도에는 인수가액이 </a:t>
            </a:r>
            <a:r>
              <a:rPr lang="ko-KR" altLang="ko-KR" b="1" dirty="0"/>
              <a:t>80억 원</a:t>
            </a:r>
            <a:r>
              <a:rPr lang="ko-KR" altLang="ko-KR" dirty="0"/>
              <a:t>으로도 제시돼, 최종 금액은 공시 확인이 필요합니다. </a:t>
            </a:r>
            <a:r>
              <a:rPr lang="ko-KR" altLang="ko-KR" dirty="0" err="1">
                <a:hlinkClick r:id="rId7"/>
              </a:rPr>
              <a:t>더벨</a:t>
            </a:r>
            <a:r>
              <a:rPr lang="ko-KR" altLang="ko-KR" dirty="0">
                <a:hlinkClick r:id="rId7"/>
              </a:rPr>
              <a:t>, 2022년 1월 보도</a:t>
            </a:r>
            <a:endParaRPr lang="ko-KR" altLang="ko-KR" dirty="0"/>
          </a:p>
          <a:p>
            <a:endParaRPr lang="en-US" altLang="ko-KR" b="1" dirty="0"/>
          </a:p>
          <a:p>
            <a:r>
              <a:rPr lang="ko-KR" altLang="ko-KR" b="1" dirty="0"/>
              <a:t>④ </a:t>
            </a:r>
            <a:r>
              <a:rPr lang="ko-KR" altLang="ko-KR" b="1" dirty="0" err="1"/>
              <a:t>Blue</a:t>
            </a:r>
            <a:r>
              <a:rPr lang="ko-KR" altLang="ko-KR" b="1" dirty="0"/>
              <a:t> </a:t>
            </a:r>
            <a:r>
              <a:rPr lang="ko-KR" altLang="ko-KR" b="1" dirty="0" err="1"/>
              <a:t>Tie</a:t>
            </a:r>
            <a:r>
              <a:rPr lang="ko-KR" altLang="ko-KR" b="1" dirty="0"/>
              <a:t>: 소규모 보조 사례</a:t>
            </a:r>
            <a:endParaRPr lang="ko-KR" altLang="ko-KR" dirty="0"/>
          </a:p>
          <a:p>
            <a:r>
              <a:rPr lang="ko-KR" altLang="ko-KR" dirty="0"/>
              <a:t>제공 데이터에는 </a:t>
            </a:r>
            <a:r>
              <a:rPr lang="ko-KR" altLang="ko-KR" dirty="0" err="1"/>
              <a:t>쓰리와이코퍼레이션이</a:t>
            </a:r>
            <a:r>
              <a:rPr lang="ko-KR" altLang="ko-KR" dirty="0"/>
              <a:t> 2021년 </a:t>
            </a:r>
            <a:r>
              <a:rPr lang="ko-KR" altLang="ko-KR" b="1" dirty="0"/>
              <a:t>약 5억 원에 </a:t>
            </a:r>
            <a:r>
              <a:rPr lang="ko-KR" altLang="ko-KR" b="1" dirty="0" err="1"/>
              <a:t>Blue</a:t>
            </a:r>
            <a:r>
              <a:rPr lang="ko-KR" altLang="ko-KR" b="1" dirty="0"/>
              <a:t> </a:t>
            </a:r>
            <a:r>
              <a:rPr lang="ko-KR" altLang="ko-KR" b="1" dirty="0" err="1"/>
              <a:t>Tie를</a:t>
            </a:r>
            <a:r>
              <a:rPr lang="ko-KR" altLang="ko-KR" b="1" dirty="0"/>
              <a:t> 인수하기로 한 거래</a:t>
            </a:r>
            <a:endParaRPr lang="en-US" altLang="ko-KR" b="1" dirty="0"/>
          </a:p>
          <a:p>
            <a:r>
              <a:rPr lang="ko-KR" altLang="ko-KR" dirty="0"/>
              <a:t>상태는 </a:t>
            </a:r>
            <a:r>
              <a:rPr lang="ko-KR" altLang="ko-KR" b="1" dirty="0" err="1"/>
              <a:t>Announced</a:t>
            </a:r>
            <a:r>
              <a:rPr lang="ko-KR" altLang="en-US" b="1" dirty="0" err="1"/>
              <a:t>임</a:t>
            </a:r>
            <a:r>
              <a:rPr lang="ko-KR" altLang="en-US" b="1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1C2B77-BEB2-66DD-1F33-BCAACC7A1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1296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6379-5E8D-EEDF-3B98-F8C5AC0E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58C74E-2452-C3A1-67BC-2C70E2E8E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7BE51-4C61-97BC-ED44-25671335E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E16BA0-7E7F-C5AC-34E1-C6B24435B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7345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48F4-8338-D421-1161-52EB4098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BBBF63-0FBC-7C38-49C8-1AFE17965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F2515E-0219-37F1-4088-A26918306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카테고리의 </a:t>
            </a:r>
            <a:r>
              <a:rPr lang="en-US" altLang="ko-KR" dirty="0"/>
              <a:t>M&amp;A</a:t>
            </a:r>
            <a:r>
              <a:rPr lang="ko-KR" altLang="en-US" dirty="0"/>
              <a:t>는 총 </a:t>
            </a:r>
            <a:r>
              <a:rPr lang="en-US" altLang="ko-KR" dirty="0"/>
              <a:t>3</a:t>
            </a:r>
            <a:r>
              <a:rPr lang="ko-KR" altLang="en-US" dirty="0"/>
              <a:t>건</a:t>
            </a:r>
            <a:r>
              <a:rPr lang="en-US" altLang="ko-KR" dirty="0"/>
              <a:t>, 25.78</a:t>
            </a:r>
            <a:r>
              <a:rPr lang="ko-KR" altLang="en-US" dirty="0"/>
              <a:t>백만 달러이며 </a:t>
            </a:r>
            <a:r>
              <a:rPr lang="en-US" altLang="ko-KR" dirty="0"/>
              <a:t>MixRadio</a:t>
            </a:r>
            <a:r>
              <a:rPr lang="ko-KR" altLang="en-US" dirty="0"/>
              <a:t>가 약 </a:t>
            </a:r>
            <a:r>
              <a:rPr lang="en-US" altLang="ko-KR" dirty="0"/>
              <a:t>75.1%</a:t>
            </a:r>
            <a:r>
              <a:rPr lang="ko-KR" altLang="en-US" dirty="0"/>
              <a:t>를 차지</a:t>
            </a:r>
            <a:endParaRPr lang="en-US" altLang="ko-KR" dirty="0"/>
          </a:p>
          <a:p>
            <a:r>
              <a:rPr lang="ko-KR" altLang="ko-KR" dirty="0"/>
              <a:t>2014년 </a:t>
            </a:r>
            <a:r>
              <a:rPr lang="ko-KR" altLang="ko-KR" dirty="0" err="1"/>
              <a:t>LINE의</a:t>
            </a:r>
            <a:r>
              <a:rPr lang="ko-KR" altLang="ko-KR" dirty="0"/>
              <a:t> </a:t>
            </a:r>
            <a:r>
              <a:rPr lang="ko-KR" altLang="ko-KR" dirty="0" err="1"/>
              <a:t>MixRadio</a:t>
            </a:r>
            <a:r>
              <a:rPr lang="ko-KR" altLang="ko-KR" dirty="0"/>
              <a:t> 인수는 음악 스트리밍 서비스와 전문인력을 확보하여 메신저 중심의 서비스 범위를 확장하려는 사례</a:t>
            </a:r>
            <a:endParaRPr lang="en-US" altLang="ko-KR" dirty="0"/>
          </a:p>
          <a:p>
            <a:r>
              <a:rPr lang="en-US" altLang="ko-KR" dirty="0"/>
              <a:t>LINE </a:t>
            </a:r>
            <a:r>
              <a:rPr lang="ko-KR" altLang="en-US" dirty="0"/>
              <a:t>공식 발표</a:t>
            </a:r>
            <a:r>
              <a:rPr lang="en-US" altLang="ko-KR" dirty="0"/>
              <a:t>: https://www.linecorp.com/en/pr/news/en/2014/895?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24DA3-A6E1-DC87-1106-4E3839F8C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273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E52F-2F5D-532D-D22E-DD789BF5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B46A5C-E87B-8F51-BE1A-CAD7B863E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003831-23D3-FA84-C140-DFC48F203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2021</a:t>
            </a:r>
            <a:r>
              <a:rPr lang="ko-KR" altLang="en-US" b="0" dirty="0"/>
              <a:t>년 네이버의 </a:t>
            </a:r>
            <a:r>
              <a:rPr lang="en-US" altLang="ko-KR" b="0" dirty="0" err="1"/>
              <a:t>BeNX</a:t>
            </a:r>
            <a:r>
              <a:rPr lang="en-US" altLang="ko-KR" b="0" dirty="0"/>
              <a:t> </a:t>
            </a:r>
            <a:r>
              <a:rPr lang="ko-KR" altLang="en-US" b="0" dirty="0"/>
              <a:t>투자는 </a:t>
            </a:r>
            <a:r>
              <a:rPr lang="en-US" altLang="ko-KR" b="0" dirty="0"/>
              <a:t>V LIVE</a:t>
            </a:r>
            <a:r>
              <a:rPr lang="ko-KR" altLang="en-US" b="0" dirty="0"/>
              <a:t>와 위버스를 연결하고</a:t>
            </a:r>
            <a:r>
              <a:rPr lang="en-US" altLang="ko-KR" b="0" dirty="0"/>
              <a:t>, </a:t>
            </a:r>
            <a:r>
              <a:rPr lang="ko-KR" altLang="en-US" b="0" dirty="0"/>
              <a:t>네이버의 플랫폼 기술과 </a:t>
            </a:r>
            <a:r>
              <a:rPr lang="ko-KR" altLang="en-US" b="0" dirty="0" err="1"/>
              <a:t>빅히트의</a:t>
            </a:r>
            <a:r>
              <a:rPr lang="ko-KR" altLang="en-US" b="0" dirty="0"/>
              <a:t> 콘텐츠</a:t>
            </a:r>
            <a:r>
              <a:rPr lang="en-US" altLang="ko-KR" b="0" dirty="0"/>
              <a:t>·</a:t>
            </a:r>
            <a:r>
              <a:rPr lang="ko-KR" altLang="en-US" b="0" dirty="0" err="1"/>
              <a:t>팬덤</a:t>
            </a:r>
            <a:r>
              <a:rPr lang="ko-KR" altLang="en-US" b="0" dirty="0"/>
              <a:t> 사업 역량을 결합하려는 거래</a:t>
            </a:r>
            <a:endParaRPr lang="en-US" altLang="ko-KR" b="0" dirty="0"/>
          </a:p>
          <a:p>
            <a:r>
              <a:rPr lang="ko-KR" altLang="ko-KR" b="0" dirty="0"/>
              <a:t>2021.1.27, </a:t>
            </a:r>
            <a:r>
              <a:rPr lang="ko-KR" altLang="ko-KR" b="0" dirty="0" err="1"/>
              <a:t>V</a:t>
            </a:r>
            <a:r>
              <a:rPr lang="ko-KR" altLang="ko-KR" b="0" dirty="0"/>
              <a:t> LIVE 사업 양도: 180.56백만 달러. </a:t>
            </a:r>
            <a:r>
              <a:rPr lang="ko-KR" altLang="ko-KR" b="0" dirty="0" err="1"/>
              <a:t>BeNX가</a:t>
            </a:r>
            <a:r>
              <a:rPr lang="ko-KR" altLang="ko-KR" b="0" dirty="0"/>
              <a:t> 네이버의 </a:t>
            </a:r>
            <a:r>
              <a:rPr lang="ko-KR" altLang="ko-KR" b="0" dirty="0" err="1"/>
              <a:t>V</a:t>
            </a:r>
            <a:r>
              <a:rPr lang="ko-KR" altLang="ko-KR" b="0" dirty="0"/>
              <a:t> LIVE 사업을 약 2,000억 원에 취득하는 구조입니다. 이 건은 네이버가 인수한 거래가 아니라 네이버가 사업을 넘기는 거래</a:t>
            </a:r>
            <a:endParaRPr lang="en-US" altLang="ko-KR" b="0" dirty="0"/>
          </a:p>
          <a:p>
            <a:r>
              <a:rPr lang="ko-KR" altLang="en-US" b="0" dirty="0"/>
              <a:t>네이버 연차보고서</a:t>
            </a:r>
            <a:r>
              <a:rPr lang="en-US" altLang="ko-KR" b="0" dirty="0"/>
              <a:t>: https://www.navercorp.com/navercorp_/ir/annualReport/2021/2020AR_NAVER_KOR_Final.pdf?</a:t>
            </a:r>
          </a:p>
          <a:p>
            <a:endParaRPr lang="en-US" altLang="ko-KR" b="0" dirty="0"/>
          </a:p>
          <a:p>
            <a:r>
              <a:rPr lang="ko-KR" altLang="ko-KR" b="1" dirty="0"/>
              <a:t>‘전체 </a:t>
            </a:r>
            <a:r>
              <a:rPr lang="ko-KR" altLang="ko-KR" b="1" dirty="0" err="1"/>
              <a:t>조달액</a:t>
            </a:r>
            <a:r>
              <a:rPr lang="ko-KR" altLang="ko-KR" b="1" dirty="0"/>
              <a:t> ≠ NAVER 투자액’</a:t>
            </a:r>
            <a:r>
              <a:rPr lang="ko-KR" altLang="ko-KR" dirty="0"/>
              <a:t>, ‘2022년 두 기록의 관계 추가 확인 </a:t>
            </a:r>
            <a:r>
              <a:rPr lang="ko-KR" altLang="ko-KR" dirty="0" err="1"/>
              <a:t>필요’를</a:t>
            </a:r>
            <a:r>
              <a:rPr lang="ko-KR" altLang="ko-KR" dirty="0"/>
              <a:t> 각주로 표시</a:t>
            </a:r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06531-2D12-AB43-309A-AF1B4B327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634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35FD-AB3E-71DB-9FB9-7BD27CB0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ECCBA0-9050-C9D2-0D39-3EDE1AFD9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743BBA-DD8D-63F2-8ADC-2845563B2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Cake</a:t>
            </a:r>
            <a:r>
              <a:rPr lang="ko-KR" altLang="ko-KR" dirty="0"/>
              <a:t> 두 건의 합계는 </a:t>
            </a:r>
            <a:r>
              <a:rPr lang="ko-KR" altLang="ko-KR" b="1" dirty="0"/>
              <a:t>17.37백만 달러, 원화 기준 총 200억 원</a:t>
            </a:r>
            <a:endParaRPr lang="en-US" altLang="ko-KR" b="1" dirty="0"/>
          </a:p>
          <a:p>
            <a:r>
              <a:rPr lang="ko-KR" altLang="ko-KR" b="1" dirty="0"/>
              <a:t>네이버가 외부 회사에 투자한 사례가 아니라, 네이버 계열 회사가 외부 자금을 유치한 사례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ko-KR" dirty="0"/>
              <a:t>2020–2021년 교육 분야 </a:t>
            </a:r>
            <a:r>
              <a:rPr lang="ko-KR" altLang="ko-KR" dirty="0" err="1"/>
              <a:t>PP는</a:t>
            </a:r>
            <a:r>
              <a:rPr lang="ko-KR" altLang="ko-KR" dirty="0"/>
              <a:t> 영어학습 서비스 </a:t>
            </a:r>
            <a:r>
              <a:rPr lang="ko-KR" altLang="ko-KR" dirty="0" err="1"/>
              <a:t>Cake의</a:t>
            </a:r>
            <a:r>
              <a:rPr lang="ko-KR" altLang="ko-KR" dirty="0"/>
              <a:t> 외부 투자 유치가 주요 사례</a:t>
            </a:r>
            <a:endParaRPr lang="en-US" altLang="ko-KR" dirty="0"/>
          </a:p>
          <a:p>
            <a:r>
              <a:rPr lang="ko-KR" altLang="ko-KR" dirty="0"/>
              <a:t>기존 서비스의 성장에 필요한 자금을 외부 투자자로부터 조달하는 형태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C38767-C645-5342-D17C-D91FE4CA6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6209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CC44-9DD9-1115-F364-BB6457C3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4A91DF-BFC2-3219-CAE2-3596FEEDB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598703-CC78-6B9E-8DFE-BA8ACF179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Demae-Can은</a:t>
            </a:r>
            <a:r>
              <a:rPr lang="ko-KR" altLang="ko-KR" dirty="0"/>
              <a:t> </a:t>
            </a:r>
            <a:r>
              <a:rPr lang="ko-KR" altLang="ko-KR" b="1" dirty="0"/>
              <a:t>동일 기업에 대한 기존 주식 취득 → 신주 인수를 통한 추가 자금 공급</a:t>
            </a:r>
            <a:r>
              <a:rPr lang="ko-KR" altLang="ko-KR" dirty="0"/>
              <a:t>이라는 흐름을 보여</a:t>
            </a:r>
            <a:r>
              <a:rPr lang="ko-KR" altLang="en-US" dirty="0"/>
              <a:t>줌</a:t>
            </a:r>
            <a:endParaRPr lang="en-US" altLang="ko-KR" dirty="0"/>
          </a:p>
          <a:p>
            <a:r>
              <a:rPr lang="ko-KR" altLang="ko-KR" dirty="0"/>
              <a:t>따라서 그림의 </a:t>
            </a:r>
            <a:r>
              <a:rPr lang="ko-KR" altLang="ko-KR" b="1" dirty="0"/>
              <a:t>‘M&amp;A → PP’ 변화를 설명할 우선 사례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ko-KR" dirty="0" err="1"/>
              <a:t>LINE의</a:t>
            </a:r>
            <a:r>
              <a:rPr lang="ko-KR" altLang="ko-KR" dirty="0"/>
              <a:t> 공식 공시는 2016년 지분 취득 이후 </a:t>
            </a:r>
            <a:r>
              <a:rPr lang="ko-KR" altLang="ko-KR" b="1" dirty="0" err="1"/>
              <a:t>LINE의</a:t>
            </a:r>
            <a:r>
              <a:rPr lang="ko-KR" altLang="ko-KR" b="1" dirty="0"/>
              <a:t> 사용자 기반과 </a:t>
            </a:r>
            <a:r>
              <a:rPr lang="ko-KR" altLang="ko-KR" b="1" dirty="0" err="1"/>
              <a:t>Demae-Can의</a:t>
            </a:r>
            <a:r>
              <a:rPr lang="ko-KR" altLang="ko-KR" b="1" dirty="0"/>
              <a:t> </a:t>
            </a:r>
            <a:r>
              <a:rPr lang="ko-KR" altLang="ko-KR" b="1" dirty="0" err="1"/>
              <a:t>가맹점망·배달</a:t>
            </a:r>
            <a:r>
              <a:rPr lang="ko-KR" altLang="ko-KR" b="1" dirty="0"/>
              <a:t> 운영 노하우를 결합</a:t>
            </a:r>
            <a:r>
              <a:rPr lang="ko-KR" altLang="ko-KR" dirty="0"/>
              <a:t>해 사업을 추진해 왔다고 설명</a:t>
            </a:r>
            <a:endParaRPr lang="en-US" altLang="ko-KR" dirty="0"/>
          </a:p>
          <a:p>
            <a:r>
              <a:rPr lang="en-US" altLang="ko-KR" dirty="0"/>
              <a:t>https://www.sec.gov/Archives/edgar/data/1611820/000119312520087689/d836400d6k.htm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A30EAB-2BD7-D698-820D-74940FD2B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450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1F88-EEA6-ABC1-636A-A9E73BB8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C28968-4209-410D-D297-FA1765C62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C1DCC0-5673-1F0F-3C38-2355ACCBF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필요시 </a:t>
            </a:r>
            <a:r>
              <a:rPr lang="en-US" altLang="ko-KR" dirty="0"/>
              <a:t>PP</a:t>
            </a:r>
            <a:r>
              <a:rPr lang="ko-KR" altLang="en-US" dirty="0"/>
              <a:t>를 다음 세 가지로 구분이 필요할 수 있음</a:t>
            </a:r>
            <a:endParaRPr lang="en-US" altLang="ko-KR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ko-KR" b="1" dirty="0"/>
              <a:t>그룹 내부 출자:</a:t>
            </a:r>
            <a:r>
              <a:rPr lang="ko-KR" altLang="ko-KR" dirty="0"/>
              <a:t> 기존 계열사에 자금 공급</a:t>
            </a:r>
            <a:r>
              <a:rPr lang="en-US" altLang="ko-KR" dirty="0"/>
              <a:t> (</a:t>
            </a:r>
            <a:endParaRPr lang="ko-KR" altLang="ko-KR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ko-KR" b="1" dirty="0"/>
              <a:t>외부 투자 유치:</a:t>
            </a:r>
            <a:r>
              <a:rPr lang="ko-KR" altLang="ko-KR" dirty="0"/>
              <a:t> 외부 투자자가 그룹 내 회사에 자금 공급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ko-KR" b="1" dirty="0"/>
              <a:t>외부 기업 투자:</a:t>
            </a:r>
            <a:r>
              <a:rPr lang="ko-KR" altLang="ko-KR" dirty="0"/>
              <a:t> 그룹이 외부 기업의 신주 등을 인수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64688-2763-ECE3-B95E-8C99A7B44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756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D660E-A7F5-5CBC-5D1A-DA3C48C9C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05FEBE-0AB9-5DA1-60E3-CEA1354CD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506506-6F9A-2707-F335-17DD5F250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3D344-DEFE-0D75-BE72-9838AB82C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8789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8E0CE-B2FF-8B19-24BF-47E84FA9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024F6A-71D5-85BF-15A9-D4CB0D4E8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5B3E81-BA69-A3AB-C81C-DC0E9EA6E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A6B6FE-552E-175D-BEAC-3A79FD867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09BE-D482-4AA0-8E31-E74DB3740B8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075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5A42BA1-24E4-43C3-153F-9C36BDA7C229}"/>
              </a:ext>
            </a:extLst>
          </p:cNvPr>
          <p:cNvSpPr/>
          <p:nvPr userDrawn="1"/>
        </p:nvSpPr>
        <p:spPr>
          <a:xfrm>
            <a:off x="0" y="1"/>
            <a:ext cx="12192000" cy="4362993"/>
          </a:xfrm>
          <a:prstGeom prst="rect">
            <a:avLst/>
          </a:prstGeom>
          <a:gradFill flip="none" rotWithShape="1">
            <a:gsLst>
              <a:gs pos="0">
                <a:srgbClr val="7C2631"/>
              </a:gs>
              <a:gs pos="100000">
                <a:srgbClr val="850D0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 altLang="ko-KR" sz="2400" i="1" kern="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ED60ACC5-2CA8-CB55-EBF7-8BB6B057E1E2}"/>
              </a:ext>
            </a:extLst>
          </p:cNvPr>
          <p:cNvSpPr/>
          <p:nvPr userDrawn="1"/>
        </p:nvSpPr>
        <p:spPr>
          <a:xfrm>
            <a:off x="-19215" y="0"/>
            <a:ext cx="9222378" cy="4362992"/>
          </a:xfrm>
          <a:prstGeom prst="rtTriangle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5AF86F5-D45C-F6E3-2153-01CFD92DB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733" y="2155329"/>
            <a:ext cx="10076330" cy="144354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9E8BA268-0AC3-19DB-BF7D-968589D9E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0213" y="59250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46FBFB98-1239-423F-A153-60B26E30B85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1" name="그림 10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ACD14496-401C-760E-43D4-A0216DF8F2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733" y="686442"/>
            <a:ext cx="1418075" cy="468000"/>
          </a:xfrm>
          <a:prstGeom prst="rect">
            <a:avLst/>
          </a:prstGeom>
        </p:spPr>
      </p:pic>
      <p:sp>
        <p:nvSpPr>
          <p:cNvPr id="14" name="텍스트 개체 틀 25">
            <a:extLst>
              <a:ext uri="{FF2B5EF4-FFF2-40B4-BE49-F238E27FC236}">
                <a16:creationId xmlns:a16="http://schemas.microsoft.com/office/drawing/2014/main" id="{E04192BE-3358-D389-58C6-9B248E0310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2838" y="4695123"/>
            <a:ext cx="10076224" cy="47148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5" name="텍스트 개체 틀 27">
            <a:extLst>
              <a:ext uri="{FF2B5EF4-FFF2-40B4-BE49-F238E27FC236}">
                <a16:creationId xmlns:a16="http://schemas.microsoft.com/office/drawing/2014/main" id="{E238BB8B-6AB0-30F3-10A8-10F96682C4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2837" y="1597585"/>
            <a:ext cx="10076225" cy="53181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 sz="18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8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8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8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2" name="그림 1" descr="로고, 텍스트, 폰트, 상징이(가) 표시된 사진&#10;&#10;자동 생성된 설명">
            <a:extLst>
              <a:ext uri="{FF2B5EF4-FFF2-40B4-BE49-F238E27FC236}">
                <a16:creationId xmlns:a16="http://schemas.microsoft.com/office/drawing/2014/main" id="{E72D428D-7F83-14A0-92FD-864B4D3EDC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686" y="686442"/>
            <a:ext cx="1051127" cy="468000"/>
          </a:xfrm>
          <a:prstGeom prst="rect">
            <a:avLst/>
          </a:prstGeom>
        </p:spPr>
      </p:pic>
      <p:pic>
        <p:nvPicPr>
          <p:cNvPr id="4" name="그림 3" descr="텍스트, 폰트, 상징, 로고이(가) 표시된 사진&#10;&#10;자동 생성된 설명">
            <a:extLst>
              <a:ext uri="{FF2B5EF4-FFF2-40B4-BE49-F238E27FC236}">
                <a16:creationId xmlns:a16="http://schemas.microsoft.com/office/drawing/2014/main" id="{2C7B6B92-9F3C-9F22-CF11-16C9AF5D79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061" y="686442"/>
            <a:ext cx="109800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3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ED60ACC5-2CA8-CB55-EBF7-8BB6B057E1E2}"/>
              </a:ext>
            </a:extLst>
          </p:cNvPr>
          <p:cNvSpPr/>
          <p:nvPr userDrawn="1"/>
        </p:nvSpPr>
        <p:spPr>
          <a:xfrm>
            <a:off x="-19215" y="-1"/>
            <a:ext cx="13407124" cy="6342743"/>
          </a:xfrm>
          <a:prstGeom prst="rtTriangle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1ACAD2C-D211-4CAC-872D-87F09FF227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0526" y="1254034"/>
            <a:ext cx="3816788" cy="553363"/>
          </a:xfrm>
        </p:spPr>
        <p:txBody>
          <a:bodyPr>
            <a:noAutofit/>
          </a:bodyPr>
          <a:lstStyle>
            <a:lvl1pPr marL="0" indent="0" algn="l">
              <a:buNone/>
              <a:defRPr sz="4600">
                <a:solidFill>
                  <a:srgbClr val="900E0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>
              <a:defRPr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2pPr>
            <a:lvl3pPr>
              <a:defRPr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3pPr>
            <a:lvl4pPr>
              <a:defRPr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4pPr>
            <a:lvl5pPr>
              <a:defRPr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5965371" y="0"/>
            <a:ext cx="0" cy="4876800"/>
          </a:xfrm>
          <a:prstGeom prst="line">
            <a:avLst/>
          </a:prstGeom>
          <a:ln w="28575">
            <a:solidFill>
              <a:srgbClr val="900E0E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23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4390402" y="1774211"/>
            <a:ext cx="3240000" cy="3240000"/>
          </a:xfrm>
          <a:prstGeom prst="rect">
            <a:avLst/>
          </a:prstGeom>
          <a:gradFill flip="none" rotWithShape="1">
            <a:gsLst>
              <a:gs pos="28000">
                <a:srgbClr val="7C2631"/>
              </a:gs>
              <a:gs pos="100000">
                <a:srgbClr val="900E0E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직각 삼각형 10"/>
          <p:cNvSpPr/>
          <p:nvPr userDrawn="1"/>
        </p:nvSpPr>
        <p:spPr>
          <a:xfrm>
            <a:off x="4390402" y="1774211"/>
            <a:ext cx="3240000" cy="3240000"/>
          </a:xfrm>
          <a:prstGeom prst="rtTriangle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 hasCustomPrompt="1"/>
          </p:nvPr>
        </p:nvSpPr>
        <p:spPr>
          <a:xfrm>
            <a:off x="4966120" y="3106517"/>
            <a:ext cx="2086598" cy="808316"/>
          </a:xfrm>
          <a:ln>
            <a:noFill/>
          </a:ln>
        </p:spPr>
        <p:txBody>
          <a:bodyPr>
            <a:noAutofit/>
          </a:bodyPr>
          <a:lstStyle>
            <a:lvl1pPr algn="ctr">
              <a:defRPr sz="3000" b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dirty="0"/>
              <a:t>소제목</a:t>
            </a:r>
            <a:br>
              <a:rPr lang="en-US" altLang="ko-KR" dirty="0"/>
            </a:br>
            <a:r>
              <a:rPr lang="ko-KR" altLang="en-US" dirty="0"/>
              <a:t>작성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3" hasCustomPrompt="1"/>
          </p:nvPr>
        </p:nvSpPr>
        <p:spPr>
          <a:xfrm>
            <a:off x="5240577" y="2581197"/>
            <a:ext cx="1537685" cy="31173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330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D6BF5F-21E0-75E2-6731-C7D657A11C2D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사각형: 둥근 모서리 15">
            <a:extLst>
              <a:ext uri="{FF2B5EF4-FFF2-40B4-BE49-F238E27FC236}">
                <a16:creationId xmlns:a16="http://schemas.microsoft.com/office/drawing/2014/main" id="{1846EAC9-7463-DD79-AFD3-C67759ADDD15}"/>
              </a:ext>
            </a:extLst>
          </p:cNvPr>
          <p:cNvSpPr/>
          <p:nvPr userDrawn="1"/>
        </p:nvSpPr>
        <p:spPr>
          <a:xfrm>
            <a:off x="315686" y="399647"/>
            <a:ext cx="118535" cy="413883"/>
          </a:xfrm>
          <a:prstGeom prst="roundRect">
            <a:avLst>
              <a:gd name="adj" fmla="val 0"/>
            </a:avLst>
          </a:prstGeom>
          <a:solidFill>
            <a:srgbClr val="900E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7933DAE-F1FB-005F-CC94-20FD589D29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3184" y="399647"/>
            <a:ext cx="3438532" cy="413883"/>
          </a:xfrm>
        </p:spPr>
        <p:txBody>
          <a:bodyPr anchor="b">
            <a:normAutofit/>
          </a:bodyPr>
          <a:lstStyle>
            <a:lvl1pPr algn="l">
              <a:defRPr sz="2000" b="1">
                <a:solidFill>
                  <a:srgbClr val="900E0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EF46782C-8834-BCF8-7840-58DED1E7DE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65033" y="1251117"/>
            <a:ext cx="11165113" cy="897068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Font typeface="Arial" panose="020B0604020202020204" pitchFamily="34" charset="0"/>
              <a:buNone/>
              <a:defRPr sz="2200" b="1" baseline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상단요약문을 위한 공간입니다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 err="1"/>
              <a:t>나눔스퀘어</a:t>
            </a:r>
            <a:r>
              <a:rPr lang="ko-KR" altLang="en-US" dirty="0"/>
              <a:t> </a:t>
            </a:r>
            <a:r>
              <a:rPr lang="en-US" altLang="ko-KR" dirty="0"/>
              <a:t>Extrabold</a:t>
            </a:r>
            <a:r>
              <a:rPr lang="ko-KR" altLang="en-US" dirty="0"/>
              <a:t> </a:t>
            </a:r>
            <a:r>
              <a:rPr lang="en-US" altLang="ko-KR" dirty="0"/>
              <a:t> /20-22pt / </a:t>
            </a:r>
            <a:r>
              <a:rPr lang="ko-KR" altLang="en-US" dirty="0" err="1"/>
              <a:t>중앙정렬</a:t>
            </a:r>
            <a:r>
              <a:rPr lang="en-US" altLang="ko-KR" dirty="0"/>
              <a:t> / 2</a:t>
            </a:r>
            <a:r>
              <a:rPr lang="ko-KR" altLang="en-US" dirty="0"/>
              <a:t>줄 이내로 작성</a:t>
            </a:r>
            <a:endParaRPr lang="en-US" altLang="ko-KR" dirty="0"/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F2C1394-6424-C246-01D1-BA17C92137D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6572" y="6431869"/>
            <a:ext cx="2743200" cy="365125"/>
          </a:xfrm>
        </p:spPr>
        <p:txBody>
          <a:bodyPr/>
          <a:lstStyle>
            <a:lvl1pPr>
              <a:defRPr sz="1200"/>
            </a:lvl1pPr>
          </a:lstStyle>
          <a:p>
            <a:fld id="{A0CF2442-A98D-4A76-B2C1-E575D5B14868}" type="datetime1">
              <a:rPr lang="ko-KR" altLang="en-US" smtClean="0"/>
              <a:pPr/>
              <a:t>2026-10-19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CA3EECA2-5C9E-3031-3AB4-8CEFCAABA2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1076" y="6431869"/>
            <a:ext cx="4114800" cy="365125"/>
          </a:xfrm>
        </p:spPr>
        <p:txBody>
          <a:bodyPr/>
          <a:lstStyle>
            <a:lvl1pPr>
              <a:defRPr sz="1200"/>
            </a:lvl1pPr>
          </a:lstStyle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C4F1D783-2FE6-0CBB-2193-6C85C17E72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21780" y="6431869"/>
            <a:ext cx="2743200" cy="365125"/>
          </a:xfrm>
        </p:spPr>
        <p:txBody>
          <a:bodyPr/>
          <a:lstStyle>
            <a:lvl1pPr>
              <a:defRPr sz="1200"/>
            </a:lvl1pPr>
          </a:lstStyle>
          <a:p>
            <a:fld id="{7844155C-43CD-491A-B9D5-120B7A734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12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0DBBBB3-FF6A-8BA9-F3C0-0B338525453F}"/>
              </a:ext>
            </a:extLst>
          </p:cNvPr>
          <p:cNvSpPr/>
          <p:nvPr userDrawn="1"/>
        </p:nvSpPr>
        <p:spPr>
          <a:xfrm>
            <a:off x="-19215" y="0"/>
            <a:ext cx="11819329" cy="6858000"/>
          </a:xfrm>
          <a:prstGeom prst="rect">
            <a:avLst/>
          </a:prstGeom>
          <a:gradFill flip="none" rotWithShape="1">
            <a:gsLst>
              <a:gs pos="28000">
                <a:srgbClr val="7C2631"/>
              </a:gs>
              <a:gs pos="100000">
                <a:srgbClr val="900E0E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A22BFC8C-1188-16D8-75B6-43687BBC1390}"/>
              </a:ext>
            </a:extLst>
          </p:cNvPr>
          <p:cNvSpPr/>
          <p:nvPr userDrawn="1"/>
        </p:nvSpPr>
        <p:spPr>
          <a:xfrm>
            <a:off x="-19215" y="0"/>
            <a:ext cx="7570389" cy="6858000"/>
          </a:xfrm>
          <a:prstGeom prst="rtTriangle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AA3BAF-3D33-94B0-6FA3-1A27CB371E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557" y="3830265"/>
            <a:ext cx="5902664" cy="465250"/>
          </a:xfrm>
        </p:spPr>
        <p:txBody>
          <a:bodyPr anchor="b">
            <a:noAutofit/>
          </a:bodyPr>
          <a:lstStyle>
            <a:lvl1pPr algn="l">
              <a:defRPr sz="2000" b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 dirty="0"/>
              <a:t>Write your name</a:t>
            </a:r>
            <a:endParaRPr lang="ko-KR" alt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8B446E5A-7BD9-25F9-A3AB-AEE09E3A08DA}"/>
              </a:ext>
            </a:extLst>
          </p:cNvPr>
          <p:cNvSpPr txBox="1">
            <a:spLocks/>
          </p:cNvSpPr>
          <p:nvPr userDrawn="1"/>
        </p:nvSpPr>
        <p:spPr>
          <a:xfrm>
            <a:off x="843557" y="3189220"/>
            <a:ext cx="5902664" cy="5693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cs typeface="+mj-cs"/>
              </a:defRPr>
            </a:lvl1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 for listening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25" name="그림 24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73488867-8514-7E48-5177-1A6CC899E3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3" y="567874"/>
            <a:ext cx="1821681" cy="601200"/>
          </a:xfrm>
          <a:prstGeom prst="rect">
            <a:avLst/>
          </a:prstGeom>
        </p:spPr>
      </p:pic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90875B36-1846-4E83-C675-0721092DD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2963" y="4325526"/>
            <a:ext cx="5903912" cy="4651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en-US" altLang="ko-KR" dirty="0"/>
              <a:t>Write your email</a:t>
            </a:r>
            <a:endParaRPr lang="ko-KR" altLang="en-US" dirty="0"/>
          </a:p>
        </p:txBody>
      </p:sp>
      <p:pic>
        <p:nvPicPr>
          <p:cNvPr id="2" name="그림 1" descr="로고, 텍스트, 폰트, 상징이(가) 표시된 사진&#10;&#10;자동 생성된 설명">
            <a:extLst>
              <a:ext uri="{FF2B5EF4-FFF2-40B4-BE49-F238E27FC236}">
                <a16:creationId xmlns:a16="http://schemas.microsoft.com/office/drawing/2014/main" id="{EE7C5EAD-238B-2B49-0522-FB9C35BB33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618" y="567874"/>
            <a:ext cx="1350293" cy="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0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FCF8-9B6C-37F7-B9D5-79FA50AA3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653DFE-D263-2C98-67CF-751DF7C7B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FD694B-FF23-C73A-4EF0-88BD867D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556D-FE58-4383-B147-F3A8A9E85B21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1379A2-B122-6E14-37EF-6CE4BA54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23154-F3D4-16A0-AC38-607C69AB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224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CFCA2-6B2A-3E89-242F-6DFF7D26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7E6A08-254C-B6CD-0DD9-C1F290E68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0E86EF-C393-8750-44A5-2E50DB94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6156-6833-49C4-9DEB-E815C0CF4ABB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780AE-4142-ABBF-5B32-0A67A294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07ACF4-AE6D-2540-E378-72CB0C7E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97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8000D-9589-216A-C04F-5C8D5820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319290-3B8C-D417-517C-34548E377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3D168-CF0B-71C2-4A05-7CAFE1B6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DB7A-1004-42AB-A502-2E1517485BA6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072FF-2C79-5BB1-EED1-DF07FD3E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D8769-3E6B-2F24-0FA4-6112520B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5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30FE-EA61-A456-4306-33080DD0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C8C58-D9E6-631D-8ED8-05EDE8AEF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106166-B0AA-9CEF-68E8-74300994C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3E3A91-EDBF-F69A-A95A-BFDCD3CA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26F1-4751-4804-9BF8-B1D3F3DCA9A2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90ECFC-032A-344E-9150-A3091FF6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DC4F89-C158-1BF3-3880-A7D204A1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12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85C2A-33E4-E234-C93E-A21C336E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DF6B6-4C23-123A-2BCE-CB724D033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06BA20-3202-99A4-5046-3B55C61C7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3EA053-01F4-CFED-30B6-EDD3F2C1D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CD6768-4A62-58BC-39FE-B516C6647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B97BAB-F9BE-1F4B-54B5-36AD31F2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30D21-4B55-48A5-B6B8-E518F702E6A1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72DB2A-4DCF-6D23-5740-6EFDE3F5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BFA6D2-F4A6-1D82-CEDC-20136068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1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CA1B5-4781-DB2C-46B5-F1776B55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BFD6C7-1EBA-394C-A995-CF9DDD4E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4E99-8E41-4593-A584-2DE6A8931BC7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8A4237-6E98-C0CF-423E-05F55645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6A4482-E13A-5BBD-7ADC-B9A4846D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903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C3E2E1-B6B4-BDC6-F67B-8B177465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E378-2AA2-482F-BE6B-95C9ABC6232D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FDB894-00F7-9D62-C90D-7BD29D64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B0B65-D58C-2338-5C44-5CB5CA2F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21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928D6-1385-D35F-E870-7F74B10D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C9182-6F70-1403-47A9-696A3BE75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F38A62-1024-043F-32C6-5B826693B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44EED-653A-5300-1C6A-6D1D3668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E8BC3-0308-4699-B889-DDC3C6A9C904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AF7A9-08EE-C063-2540-ADE08087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90DC01-08B5-CA72-EA66-DD656F43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56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B71C4-0ED9-AAA3-EA1B-C6F0AD17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AB4888-068C-30F4-03FE-99B74610D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9CF207-35A4-385D-89A1-461DBD0F3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3F3486-DA1F-E083-C1A1-FEBEE706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A82E-E596-48B2-8EC2-9D6B7A77F05A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000C6D-4483-8D9E-1B2C-37FA28F0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C306D5-1AD7-2946-82D6-DD4CF324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949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C7311-824D-C577-5DB5-375B63D9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E8144F-559D-25D0-A562-5044B2B29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53D2E-1E06-5CA1-5155-9889A63C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4F828-0B99-4D81-A2C6-705071BAA497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3012C-3214-F304-4373-CE0B621D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B1DD5F-172D-D00B-9AA2-D325BF47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534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5B042D-F49A-5FD9-19E4-C1AAA0045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9B2793-E840-F3DF-2E57-69D6E635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4C2806-783C-405D-A724-4F168EA5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3B3F7-E1F8-4A61-A8F8-5F677F5449A1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F94C95-7188-BB61-B030-FCEE064A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6B645-175A-D426-CFD1-EC57DC66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21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E1C3AC-85F8-1E2F-9025-979E74B7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BE84E2-96A0-2458-D475-BE9B5687F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995F3E-00E1-7A6E-72EE-BEB2D373E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72D9650D-B97E-48A1-B408-688A51962120}" type="datetime1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42A03-86E0-1B1A-DE9D-83BEE7D28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34A46-2ECE-2D01-A87F-91B0A3A32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7844155C-43CD-491A-B9D5-120B7A734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71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8" r:id="rId3"/>
    <p:sldLayoutId id="2147483664" r:id="rId4"/>
    <p:sldLayoutId id="2147483666" r:id="rId5"/>
    <p:sldLayoutId id="2147483660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C36E-6C42-B27C-5D08-9A9A3647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A96F0-F60C-C1BD-BFF2-727EFA2A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596" y="2264926"/>
            <a:ext cx="10024078" cy="1443549"/>
          </a:xfrm>
        </p:spPr>
        <p:txBody>
          <a:bodyPr>
            <a:normAutofit/>
          </a:bodyPr>
          <a:lstStyle/>
          <a:p>
            <a:r>
              <a:rPr lang="en-US" altLang="ko-KR" dirty="0"/>
              <a:t>S&amp;P Global </a:t>
            </a:r>
            <a:r>
              <a:rPr lang="ko-KR" altLang="en-US" dirty="0"/>
              <a:t>연구보고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23B205-44EE-4CD1-F273-6B2073189D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7098" y="4931139"/>
            <a:ext cx="9213850" cy="471488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최재서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0C02B9-F3DD-7BD7-0235-D3CDC26E25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2701" y="1942236"/>
            <a:ext cx="9213850" cy="322690"/>
          </a:xfrm>
        </p:spPr>
        <p:txBody>
          <a:bodyPr/>
          <a:lstStyle/>
          <a:p>
            <a:r>
              <a:rPr lang="en-US" altLang="ko-KR" dirty="0"/>
              <a:t>2026 Korea University</a:t>
            </a:r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63229CE0-B500-BA10-511F-C1FF0474FE9B}"/>
              </a:ext>
            </a:extLst>
          </p:cNvPr>
          <p:cNvSpPr txBox="1">
            <a:spLocks/>
          </p:cNvSpPr>
          <p:nvPr/>
        </p:nvSpPr>
        <p:spPr>
          <a:xfrm>
            <a:off x="1027097" y="5503900"/>
            <a:ext cx="9385263" cy="4714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Ph.D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Candidate, Dept of Media &amp; Communication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413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BC28-97D6-BE7C-B3C3-D07A36CD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60950-D71D-EF24-2CC5-D372C2DBE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A1DB1E-86EE-E311-B5B1-705C3C408D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DEFFAB-4759-7738-67A7-CA28E2DB85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2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2CE26DC-63A4-0232-27F4-C27CC98DFDDF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7573E7-31D3-8D06-A89A-24815A113FF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ko-KR" altLang="en-US" b="0" dirty="0"/>
              <a:t>정량분석에서 나타난 기업거래 패턴을 주요 사례로 해석</a:t>
            </a:r>
            <a:endParaRPr lang="en-US" altLang="ko-KR" b="0" dirty="0"/>
          </a:p>
        </p:txBody>
      </p:sp>
      <p:sp>
        <p:nvSpPr>
          <p:cNvPr id="4" name="Google Shape;256;p20">
            <a:extLst>
              <a:ext uri="{FF2B5EF4-FFF2-40B4-BE49-F238E27FC236}">
                <a16:creationId xmlns:a16="http://schemas.microsoft.com/office/drawing/2014/main" id="{81409BF7-85AE-75F4-1A31-41AD3178F48F}"/>
              </a:ext>
            </a:extLst>
          </p:cNvPr>
          <p:cNvSpPr txBox="1">
            <a:spLocks/>
          </p:cNvSpPr>
          <p:nvPr/>
        </p:nvSpPr>
        <p:spPr>
          <a:xfrm>
            <a:off x="601998" y="2087170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 목적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CB1575-D691-9557-405A-12017E3277B0}"/>
              </a:ext>
            </a:extLst>
          </p:cNvPr>
          <p:cNvSpPr/>
          <p:nvPr/>
        </p:nvSpPr>
        <p:spPr>
          <a:xfrm>
            <a:off x="665832" y="2644658"/>
            <a:ext cx="10433216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앞선 분석에서 확인한 기업별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카테고리별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M&amp;A 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PP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우세와 변화가 어떤 거래에서 비롯되었는지 확인</a:t>
            </a:r>
            <a:endParaRPr lang="en-US" altLang="ko-KR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ko-KR" altLang="en-US" sz="18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거래금액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큰 사례를 중심으로 실제 거래 주체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자금 흐름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소유구조 변화와 거래 목적을 검토</a:t>
            </a:r>
            <a:endParaRPr lang="en-US" altLang="ko-KR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M&amp;A·PP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라는 유형만으로 기업 전략을 해석할 때 발생하는 한계 점검</a:t>
            </a:r>
            <a:endParaRPr lang="en-US" altLang="ko-KR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Google Shape;256;p20">
            <a:extLst>
              <a:ext uri="{FF2B5EF4-FFF2-40B4-BE49-F238E27FC236}">
                <a16:creationId xmlns:a16="http://schemas.microsoft.com/office/drawing/2014/main" id="{0AB6BD6B-B363-8593-E557-A58E8660854F}"/>
              </a:ext>
            </a:extLst>
          </p:cNvPr>
          <p:cNvSpPr txBox="1">
            <a:spLocks/>
          </p:cNvSpPr>
          <p:nvPr/>
        </p:nvSpPr>
        <p:spPr>
          <a:xfrm>
            <a:off x="601998" y="3900369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 자료 및 절차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7746DE2-F3B2-3C5B-9626-5FEE40EB5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88741"/>
              </p:ext>
            </p:extLst>
          </p:nvPr>
        </p:nvGraphicFramePr>
        <p:xfrm>
          <a:off x="838199" y="4605526"/>
          <a:ext cx="90378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0000">
                  <a:extLst>
                    <a:ext uri="{9D8B030D-6E8A-4147-A177-3AD203B41FA5}">
                      <a16:colId xmlns:a16="http://schemas.microsoft.com/office/drawing/2014/main" val="33030818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12505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자료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317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S&amp;P Global </a:t>
                      </a: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KRMedia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거래 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발표일·카테고리·거래유형·상태·거래금액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32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Transaction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Comments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투자·인수·매각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주체, </a:t>
                      </a: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신주·구주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여부, 지분 변화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58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기업 </a:t>
                      </a: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공시·IR·연차보고서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및 관련 기사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회사가 밝힌 거래 목적과 사업 배경 보완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025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58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6F87-67A5-2CD9-C198-699C3495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6F949-79CF-D8F9-B5C8-85F93FAC3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ACE69-38BE-3C87-B9A5-B49961284CD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173BC-6F8A-6585-BB09-5F8A106BF1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56E9352-3172-E5D5-B8A6-FFA4C2ACD2C7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16ACBEA-0C45-121E-4D53-9654DDF61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91643"/>
              </p:ext>
            </p:extLst>
          </p:nvPr>
        </p:nvGraphicFramePr>
        <p:xfrm>
          <a:off x="1482317" y="976757"/>
          <a:ext cx="9227365" cy="53003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5621">
                  <a:extLst>
                    <a:ext uri="{9D8B030D-6E8A-4147-A177-3AD203B41FA5}">
                      <a16:colId xmlns:a16="http://schemas.microsoft.com/office/drawing/2014/main" val="464439749"/>
                    </a:ext>
                  </a:extLst>
                </a:gridCol>
                <a:gridCol w="4143179">
                  <a:extLst>
                    <a:ext uri="{9D8B030D-6E8A-4147-A177-3AD203B41FA5}">
                      <a16:colId xmlns:a16="http://schemas.microsoft.com/office/drawing/2014/main" val="2669081029"/>
                    </a:ext>
                  </a:extLst>
                </a:gridCol>
                <a:gridCol w="4288565">
                  <a:extLst>
                    <a:ext uri="{9D8B030D-6E8A-4147-A177-3AD203B41FA5}">
                      <a16:colId xmlns:a16="http://schemas.microsoft.com/office/drawing/2014/main" val="349383316"/>
                    </a:ext>
                  </a:extLst>
                </a:gridCol>
              </a:tblGrid>
              <a:tr h="258553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No.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Category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Sub-Category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5228"/>
                  </a:ext>
                </a:extLst>
              </a:tr>
              <a:tr h="193915">
                <a:tc rowSpan="3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1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Content Production &amp; Investment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Content Production Studio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899627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Content Investment / Distribution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519124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Journalism / Publishing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01901"/>
                  </a:ext>
                </a:extLst>
              </a:tr>
              <a:tr h="193915"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2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Media Platforms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OTT / Streaming Platform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919602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Broadcasting Channel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547185"/>
                  </a:ext>
                </a:extLst>
              </a:tr>
              <a:tr h="193915">
                <a:tc rowSpan="3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3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Communication &amp; Visual Effects Services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Messaging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149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Social Networking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389610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Visual Communication Apps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33244"/>
                  </a:ext>
                </a:extLst>
              </a:tr>
              <a:tr h="193915"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4</a:t>
                      </a:r>
                      <a:endParaRPr lang="en-US" altLang="ko-KR" sz="1600" b="1" i="0" u="none" strike="noStrike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Music &amp; Fan Entertainment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Music / Artist Management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498872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Fan Platform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060576"/>
                  </a:ext>
                </a:extLst>
              </a:tr>
              <a:tr h="193915"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5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Gaming &amp; Sport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Game Development / Operating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0197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Sports / Leisure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243445"/>
                  </a:ext>
                </a:extLst>
              </a:tr>
              <a:tr h="258553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6</a:t>
                      </a:r>
                      <a:endParaRPr lang="en-US" altLang="ko-KR" sz="1600" b="1" i="0" u="none" strike="noStrike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Story IP Platforms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Story / Webtoon / Web Novel Platform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432097"/>
                  </a:ext>
                </a:extLst>
              </a:tr>
              <a:tr h="387829"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7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Commerce &amp; Marketing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Brand / Advertising / </a:t>
                      </a:r>
                      <a:b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Marketing / IP Merchandising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717509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E-commerce / Marketplace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873279"/>
                  </a:ext>
                </a:extLst>
              </a:tr>
              <a:tr h="193915">
                <a:tc rowSpan="3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8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Technology &amp; Infrastructure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AI / Robotics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865023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Digital Infrastructure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213669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Blockchain / Web3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75509"/>
                  </a:ext>
                </a:extLst>
              </a:tr>
              <a:tr h="258553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9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Mobility &amp; Transportation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Mobility / Transportation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403912"/>
                  </a:ext>
                </a:extLst>
              </a:tr>
              <a:tr h="193915"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10</a:t>
                      </a:r>
                      <a:endParaRPr lang="en-US" altLang="ko-KR" sz="1600" b="1" i="0" u="none" strike="noStrike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Logistics &amp; Space Infrastructure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Real Estate / Space / Facility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55590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Logistics / Fulfillment / Warehouse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394967"/>
                  </a:ext>
                </a:extLst>
              </a:tr>
              <a:tr h="193915"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11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Finance &amp; Investment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Fintech / Payments / Digital Financial Services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22889"/>
                  </a:ext>
                </a:extLst>
              </a:tr>
              <a:tr h="193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VC / Investment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404864"/>
                  </a:ext>
                </a:extLst>
              </a:tr>
              <a:tr h="258553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12</a:t>
                      </a:r>
                      <a:endParaRPr lang="en-US" altLang="ko-KR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Education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12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Education / Childcare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31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967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DB2A-A86F-9C41-9245-330A8D680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6B92C-6CD2-ACB4-8ADB-0682FCCCA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7A675A-AEBA-0B5F-45AA-A23863F9AE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0E1B5-CE00-9A7F-FC85-5139659AB8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C8F6A5F-EED9-743F-D40A-D7994665B1DD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B0D4C-7ADB-3358-14E3-F0C06E17F9D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CJ ENM </a:t>
            </a:r>
            <a:r>
              <a:rPr lang="ko-KR" altLang="en-US" b="0" dirty="0"/>
              <a:t>기업거래</a:t>
            </a:r>
            <a:endParaRPr lang="en-US" altLang="ko-KR" b="0" dirty="0"/>
          </a:p>
        </p:txBody>
      </p:sp>
      <p:pic>
        <p:nvPicPr>
          <p:cNvPr id="7" name="그림 6" descr="CJ · 비누적 2년 구간 상태계열">
            <a:extLst>
              <a:ext uri="{FF2B5EF4-FFF2-40B4-BE49-F238E27FC236}">
                <a16:creationId xmlns:a16="http://schemas.microsoft.com/office/drawing/2014/main" id="{22CD296F-1CCF-83EC-7105-85EA2507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07" y="1946858"/>
            <a:ext cx="7781984" cy="404663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2154618-0BFC-E766-02A7-702E521F4614}"/>
              </a:ext>
            </a:extLst>
          </p:cNvPr>
          <p:cNvSpPr/>
          <p:nvPr/>
        </p:nvSpPr>
        <p:spPr>
          <a:xfrm>
            <a:off x="7851068" y="3050824"/>
            <a:ext cx="3247979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05-06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&amp;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09-16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b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M&amp;A dominant</a:t>
            </a:r>
            <a:endParaRPr lang="en-US" altLang="ko-KR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Google Shape;256;p20">
            <a:extLst>
              <a:ext uri="{FF2B5EF4-FFF2-40B4-BE49-F238E27FC236}">
                <a16:creationId xmlns:a16="http://schemas.microsoft.com/office/drawing/2014/main" id="{A8140D39-6AE9-39FB-7AC0-9604816B0D9A}"/>
              </a:ext>
            </a:extLst>
          </p:cNvPr>
          <p:cNvSpPr txBox="1">
            <a:spLocks/>
          </p:cNvSpPr>
          <p:nvPr/>
        </p:nvSpPr>
        <p:spPr>
          <a:xfrm>
            <a:off x="7978392" y="2136386"/>
            <a:ext cx="3611610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[M&amp;A] Category 2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(Media platform)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거래 多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Google Shape;256;p20">
            <a:extLst>
              <a:ext uri="{FF2B5EF4-FFF2-40B4-BE49-F238E27FC236}">
                <a16:creationId xmlns:a16="http://schemas.microsoft.com/office/drawing/2014/main" id="{D0C55B4C-F4A9-9375-DB92-76B41CBDD6AC}"/>
              </a:ext>
            </a:extLst>
          </p:cNvPr>
          <p:cNvSpPr txBox="1">
            <a:spLocks/>
          </p:cNvSpPr>
          <p:nvPr/>
        </p:nvSpPr>
        <p:spPr>
          <a:xfrm>
            <a:off x="7978392" y="3976671"/>
            <a:ext cx="3611610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[PP] Category 7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(Commerce &amp; Marketing)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사례 등장 및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23-24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에는 균형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B513-A516-12E4-2856-A6F63D37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3F651-0DFD-FFED-8824-1D0D61896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8F62E-A581-8943-F0EF-AEBD27B079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6C7997-7975-4C4B-A56C-FBA11131CC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5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66BEEC3-CF30-FF85-10AD-03AED1CEB9B8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6EEE34-8033-D9C6-CE12-538CB4D42E2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[CJ ENM] M&amp;A </a:t>
            </a:r>
            <a:r>
              <a:rPr lang="ko-KR" altLang="en-US" b="0" dirty="0"/>
              <a:t>사례 </a:t>
            </a:r>
            <a:r>
              <a:rPr lang="en-US" altLang="ko-KR" b="0" dirty="0"/>
              <a:t>(Cat 2, Media platform)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3EDE6BE-34AE-0413-E56E-E7AEBF06B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765477"/>
              </p:ext>
            </p:extLst>
          </p:nvPr>
        </p:nvGraphicFramePr>
        <p:xfrm>
          <a:off x="838200" y="3271490"/>
          <a:ext cx="10515600" cy="2863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004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868994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1808703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989574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4189325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249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순위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37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2009-12-24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On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435.77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CJ오쇼핑의 지분 55.17% 현금 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811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2010-11-16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On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348.41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CJ E&amp;M으로 이어지는 오미디어홀딩스의 잔여지분 합병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624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2010-11-16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M-net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184.76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오미디어홀딩스의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주식 교환 방식 합병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  <a:tr h="624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2010-11-16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CJ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112.10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오미디어홀딩스의</a:t>
                      </a: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주식 교환 방식 합병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416614"/>
                  </a:ext>
                </a:extLst>
              </a:tr>
            </a:tbl>
          </a:graphicData>
        </a:graphic>
      </p:graphicFrame>
      <p:sp>
        <p:nvSpPr>
          <p:cNvPr id="12" name="Google Shape;256;p20">
            <a:extLst>
              <a:ext uri="{FF2B5EF4-FFF2-40B4-BE49-F238E27FC236}">
                <a16:creationId xmlns:a16="http://schemas.microsoft.com/office/drawing/2014/main" id="{12FE1193-792D-C8DC-A851-15F16A5ED721}"/>
              </a:ext>
            </a:extLst>
          </p:cNvPr>
          <p:cNvSpPr txBox="1">
            <a:spLocks/>
          </p:cNvSpPr>
          <p:nvPr/>
        </p:nvSpPr>
        <p:spPr>
          <a:xfrm>
            <a:off x="601998" y="1989572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2016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년까지 발표된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Cat 2 M&amp;A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는 총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9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건이며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금액 상위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건은 다음과 같음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9988C4-A730-CECF-C59A-09071914077C}"/>
              </a:ext>
            </a:extLst>
          </p:cNvPr>
          <p:cNvSpPr/>
          <p:nvPr/>
        </p:nvSpPr>
        <p:spPr>
          <a:xfrm>
            <a:off x="697274" y="2626323"/>
            <a:ext cx="10164994" cy="46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건의 기록상 금액 합계는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1,081.04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백만 달러로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건 합계의 약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94.5%</a:t>
            </a:r>
          </a:p>
        </p:txBody>
      </p:sp>
    </p:spTree>
    <p:extLst>
      <p:ext uri="{BB962C8B-B14F-4D97-AF65-F5344CB8AC3E}">
        <p14:creationId xmlns:p14="http://schemas.microsoft.com/office/powerpoint/2010/main" val="426638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D692-D01A-B168-7BF2-688B36AF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FAF79-F64C-B14C-0455-CFAB53B91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D75C79-2A1B-1830-C9C2-93BFD4AA4F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C1F0E-9850-11BC-AD4F-1E6DAE10C1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9EC56FB-673E-EA2A-1E2A-A22151B24195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41AE82-3E51-CD82-B91F-A7AA48901F3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[CJ ENM] PP </a:t>
            </a:r>
            <a:r>
              <a:rPr lang="ko-KR" altLang="en-US" b="0" dirty="0"/>
              <a:t>사례 </a:t>
            </a:r>
            <a:r>
              <a:rPr lang="en-US" altLang="ko-KR" b="0" dirty="0"/>
              <a:t>(Cat 7, </a:t>
            </a:r>
            <a:r>
              <a:rPr lang="ko-KR" altLang="ko-KR" dirty="0" err="1"/>
              <a:t>Commerce</a:t>
            </a:r>
            <a:r>
              <a:rPr lang="ko-KR" altLang="ko-KR" dirty="0"/>
              <a:t> &amp; </a:t>
            </a:r>
            <a:r>
              <a:rPr lang="ko-KR" altLang="ko-KR" dirty="0" err="1"/>
              <a:t>Marketin</a:t>
            </a:r>
            <a:r>
              <a:rPr lang="en-US" altLang="ko-KR" dirty="0"/>
              <a:t>g</a:t>
            </a:r>
            <a:r>
              <a:rPr lang="en-US" altLang="ko-KR" b="0" dirty="0"/>
              <a:t>)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F59B012-F622-60EE-E6FC-BA8174DCD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574704"/>
              </p:ext>
            </p:extLst>
          </p:nvPr>
        </p:nvGraphicFramePr>
        <p:xfrm>
          <a:off x="786887" y="3006592"/>
          <a:ext cx="10618227" cy="3242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576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573076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1848255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167320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5328000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732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번호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2013-01-14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 Trend Lab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1.51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CJ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오쇼핑이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거래 후 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유지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2013-07-26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Trend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Lab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1.26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CJ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오쇼핑이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추가 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유지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2014-11-26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Trend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Lab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0.542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CJ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오쇼핑이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추가 출자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유지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2019-02-22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dBase&amp;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2.69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CJ ENM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유지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416614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2021-03-09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DADA MNC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17.99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미래에셋자산운용이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약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210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규모 우선주 투자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626094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2022-12-21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Artworks Korea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19.50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CJ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E&amp;M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참여하는 약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245.8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규모 주주배정 증자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69996"/>
                  </a:ext>
                </a:extLst>
              </a:tr>
            </a:tbl>
          </a:graphicData>
        </a:graphic>
      </p:graphicFrame>
      <p:sp>
        <p:nvSpPr>
          <p:cNvPr id="12" name="Google Shape;256;p20">
            <a:extLst>
              <a:ext uri="{FF2B5EF4-FFF2-40B4-BE49-F238E27FC236}">
                <a16:creationId xmlns:a16="http://schemas.microsoft.com/office/drawing/2014/main" id="{A34136A4-6F0E-2EBD-C550-BD2A98AB1141}"/>
              </a:ext>
            </a:extLst>
          </p:cNvPr>
          <p:cNvSpPr txBox="1">
            <a:spLocks/>
          </p:cNvSpPr>
          <p:nvPr/>
        </p:nvSpPr>
        <p:spPr>
          <a:xfrm>
            <a:off x="601998" y="1989572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13-14 &amp; 19-22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해당 기간의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는 </a:t>
            </a:r>
            <a:r>
              <a:rPr lang="ko-KR" altLang="en-US" sz="18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오트렌드랩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dBase&amp;, DADA MNC, </a:t>
            </a:r>
            <a:r>
              <a:rPr lang="ko-KR" altLang="en-US" sz="18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아트웍스코리아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사례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90D744-11AE-4EC2-66EA-4060410E2416}"/>
              </a:ext>
            </a:extLst>
          </p:cNvPr>
          <p:cNvSpPr/>
          <p:nvPr/>
        </p:nvSpPr>
        <p:spPr>
          <a:xfrm>
            <a:off x="697274" y="2484841"/>
            <a:ext cx="10164994" cy="46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자회사에 대한 추가 출자와 외부 투자자 유치가 함께 포함</a:t>
            </a:r>
            <a:endParaRPr lang="en-US" altLang="ko-KR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86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22950-58AE-F856-8E06-B0E69D21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77A82-E970-8995-4BD1-0003E9029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ACB27-49A1-EB11-3065-5D8E14CE06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CA9CF-3440-D03D-946E-815E497DC6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7CBCD4A-1B83-9C66-538D-92D9133C0A60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E69594-08D8-4F31-2EE8-44E81F4C90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Kakao </a:t>
            </a:r>
            <a:r>
              <a:rPr lang="ko-KR" altLang="en-US" b="0" dirty="0"/>
              <a:t>기업거래</a:t>
            </a:r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4D08FC-C3D7-D4CC-F194-32BFE3FA0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407" y="1946858"/>
            <a:ext cx="7781984" cy="4046631"/>
          </a:xfrm>
          <a:prstGeom prst="rect">
            <a:avLst/>
          </a:prstGeom>
        </p:spPr>
      </p:pic>
      <p:sp>
        <p:nvSpPr>
          <p:cNvPr id="14" name="Google Shape;256;p20">
            <a:extLst>
              <a:ext uri="{FF2B5EF4-FFF2-40B4-BE49-F238E27FC236}">
                <a16:creationId xmlns:a16="http://schemas.microsoft.com/office/drawing/2014/main" id="{2766D779-4CAA-FE4A-F160-7D095A02D76B}"/>
              </a:ext>
            </a:extLst>
          </p:cNvPr>
          <p:cNvSpPr txBox="1">
            <a:spLocks/>
          </p:cNvSpPr>
          <p:nvPr/>
        </p:nvSpPr>
        <p:spPr>
          <a:xfrm>
            <a:off x="7978391" y="2136386"/>
            <a:ext cx="3801103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[M&amp;A] Category 4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(Music &amp; Fan Entertainment)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Google Shape;256;p20">
            <a:extLst>
              <a:ext uri="{FF2B5EF4-FFF2-40B4-BE49-F238E27FC236}">
                <a16:creationId xmlns:a16="http://schemas.microsoft.com/office/drawing/2014/main" id="{AFA7D915-9BAE-0780-D62E-97BF9C843C7B}"/>
              </a:ext>
            </a:extLst>
          </p:cNvPr>
          <p:cNvSpPr txBox="1">
            <a:spLocks/>
          </p:cNvSpPr>
          <p:nvPr/>
        </p:nvSpPr>
        <p:spPr>
          <a:xfrm>
            <a:off x="7978391" y="3100725"/>
            <a:ext cx="3801103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[PP] Category 8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(Technology &amp; Infrastructure)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Google Shape;256;p20">
            <a:extLst>
              <a:ext uri="{FF2B5EF4-FFF2-40B4-BE49-F238E27FC236}">
                <a16:creationId xmlns:a16="http://schemas.microsoft.com/office/drawing/2014/main" id="{7AC2CB66-A6D6-CF0D-2EB9-AB852D085537}"/>
              </a:ext>
            </a:extLst>
          </p:cNvPr>
          <p:cNvSpPr txBox="1">
            <a:spLocks/>
          </p:cNvSpPr>
          <p:nvPr/>
        </p:nvSpPr>
        <p:spPr>
          <a:xfrm>
            <a:off x="7978391" y="4028847"/>
            <a:ext cx="3801103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[PP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▶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M&amp;A] Category 7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(Commerce &amp; Marketing)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994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3BED-CAF2-A016-35B8-9CDC9923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A2884-4C31-BB13-0D17-3BA941942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D316B-475D-F4BD-1855-D626D509B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5A049-FC8A-D944-5DB4-5AC5D9C17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8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A785BF2-33B9-1519-9204-664BB555783A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6EBD0F-0E59-74B2-0584-CDAD24A7B35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[Kakao] M&amp;A </a:t>
            </a:r>
            <a:r>
              <a:rPr lang="ko-KR" altLang="en-US" b="0" dirty="0"/>
              <a:t>사례 </a:t>
            </a:r>
            <a:r>
              <a:rPr lang="en-US" altLang="ko-KR" b="0" dirty="0"/>
              <a:t>(Cat 4, </a:t>
            </a:r>
            <a:r>
              <a:rPr lang="en-US" altLang="ko-KR" sz="2400" dirty="0"/>
              <a:t>Music &amp; Fan Entertainment</a:t>
            </a:r>
            <a:r>
              <a:rPr lang="en-US" altLang="ko-KR" b="0" dirty="0"/>
              <a:t>)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2933A45-1C56-3375-C90E-75D305CAD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75"/>
              </p:ext>
            </p:extLst>
          </p:nvPr>
        </p:nvGraphicFramePr>
        <p:xfrm>
          <a:off x="786887" y="2435648"/>
          <a:ext cx="10618227" cy="3680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576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573076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2091486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4632839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732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순위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</a:t>
                      </a:r>
                      <a:b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</a:b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2019-12-24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쇼노트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23.02 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스타쉽엔터테인먼트의 인수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2019-01-02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BH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엔터테인먼트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16.88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카카오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잔여지분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70%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취득 →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100%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2013-12-18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스타쉽엔터테인먼트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14.26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로엔의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70%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취득 </a:t>
                      </a:r>
                      <a:b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카카오 편입 이전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로엔의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거래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2019-01-02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매니지먼트 숲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12.50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카카오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지분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99.4%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취득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416614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2015-11-25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에이큐브</a:t>
                      </a:r>
                      <a:b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(Play M Enter)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11.01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로엔의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70%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취득</a:t>
                      </a:r>
                      <a:b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카카오 편입 이전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에이큐브의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거래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626094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2022-04-29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이담엔터테인먼트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10.30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12.5%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추가 취득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69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59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E1F49-ADD3-8247-96AC-A7F77F11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FEA54-D1D9-5A71-F1A4-37B9C0B0E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F7148-EEF3-EFC2-CDBA-2E8F1838F8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820112-DB96-6878-F188-6678B8B690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9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A67474E-FDFC-C921-F056-C16905B8D099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4998BC-8680-F75A-66E7-3A45D2888D4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858703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[Kakao] PP </a:t>
            </a:r>
            <a:r>
              <a:rPr lang="ko-KR" altLang="en-US" b="0" dirty="0"/>
              <a:t>사례 </a:t>
            </a:r>
            <a:r>
              <a:rPr lang="en-US" altLang="ko-KR" b="0" dirty="0"/>
              <a:t>(Cat 8, </a:t>
            </a:r>
            <a:r>
              <a:rPr lang="en-US" altLang="ko-KR" sz="2400" dirty="0"/>
              <a:t>Technology &amp; Infrastructure</a:t>
            </a:r>
            <a:r>
              <a:rPr lang="en-US" altLang="ko-KR" b="0" dirty="0"/>
              <a:t>) </a:t>
            </a:r>
          </a:p>
        </p:txBody>
      </p:sp>
      <p:sp>
        <p:nvSpPr>
          <p:cNvPr id="7" name="Google Shape;256;p20">
            <a:extLst>
              <a:ext uri="{FF2B5EF4-FFF2-40B4-BE49-F238E27FC236}">
                <a16:creationId xmlns:a16="http://schemas.microsoft.com/office/drawing/2014/main" id="{C1F31E47-9990-C2FA-77C2-9DF226CC5329}"/>
              </a:ext>
            </a:extLst>
          </p:cNvPr>
          <p:cNvSpPr txBox="1">
            <a:spLocks/>
          </p:cNvSpPr>
          <p:nvPr/>
        </p:nvSpPr>
        <p:spPr>
          <a:xfrm>
            <a:off x="601998" y="1667949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2015~2024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Cat 8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에는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건</a:t>
            </a:r>
            <a:endParaRPr lang="en-US" altLang="ko-KR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Google Shape;256;p20">
            <a:extLst>
              <a:ext uri="{FF2B5EF4-FFF2-40B4-BE49-F238E27FC236}">
                <a16:creationId xmlns:a16="http://schemas.microsoft.com/office/drawing/2014/main" id="{77D1BB53-12D6-800A-5055-786176D9B03B}"/>
              </a:ext>
            </a:extLst>
          </p:cNvPr>
          <p:cNvSpPr txBox="1">
            <a:spLocks/>
          </p:cNvSpPr>
          <p:nvPr/>
        </p:nvSpPr>
        <p:spPr>
          <a:xfrm>
            <a:off x="601998" y="2189932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① </a:t>
            </a:r>
            <a:r>
              <a:rPr lang="ko-KR" altLang="en-US" sz="18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카카오브레인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AI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자회사에 대한 반복적인 자본 공급</a:t>
            </a:r>
            <a:endParaRPr lang="en-US" altLang="ko-KR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CEC5005-3181-FD27-4789-1E06E397B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79514"/>
              </p:ext>
            </p:extLst>
          </p:nvPr>
        </p:nvGraphicFramePr>
        <p:xfrm>
          <a:off x="838200" y="2765271"/>
          <a:ext cx="843031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val="3082718364"/>
                    </a:ext>
                  </a:extLst>
                </a:gridCol>
                <a:gridCol w="2022438">
                  <a:extLst>
                    <a:ext uri="{9D8B030D-6E8A-4147-A177-3AD203B41FA5}">
                      <a16:colId xmlns:a16="http://schemas.microsoft.com/office/drawing/2014/main" val="2588410757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46557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PP 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자금 공급 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5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2021-05-27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35.85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카카오, 증자 후 지분 100%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2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2022-04-21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27.88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카카오, 증자 후 지분 100%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1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2023-07-13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53.48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 — 기사에서 참여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25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2024-04-16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25.86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69731"/>
                  </a:ext>
                </a:extLst>
              </a:tr>
            </a:tbl>
          </a:graphicData>
        </a:graphic>
      </p:graphicFrame>
      <p:sp>
        <p:nvSpPr>
          <p:cNvPr id="11" name="Google Shape;256;p20">
            <a:extLst>
              <a:ext uri="{FF2B5EF4-FFF2-40B4-BE49-F238E27FC236}">
                <a16:creationId xmlns:a16="http://schemas.microsoft.com/office/drawing/2014/main" id="{3E433821-F32D-3B91-4D10-0DD3B5551286}"/>
              </a:ext>
            </a:extLst>
          </p:cNvPr>
          <p:cNvSpPr txBox="1">
            <a:spLocks/>
          </p:cNvSpPr>
          <p:nvPr/>
        </p:nvSpPr>
        <p:spPr>
          <a:xfrm>
            <a:off x="601998" y="4611922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② 그라운드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X: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블록체인 계열사에 대한 운영자금 공급</a:t>
            </a:r>
            <a:endParaRPr lang="en-US" altLang="ko-KR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D977F0B-BB5D-8F8C-DCC2-BF0D19DB0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89339"/>
              </p:ext>
            </p:extLst>
          </p:nvPr>
        </p:nvGraphicFramePr>
        <p:xfrm>
          <a:off x="838200" y="5169410"/>
          <a:ext cx="8430318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val="3082718364"/>
                    </a:ext>
                  </a:extLst>
                </a:gridCol>
                <a:gridCol w="2022438">
                  <a:extLst>
                    <a:ext uri="{9D8B030D-6E8A-4147-A177-3AD203B41FA5}">
                      <a16:colId xmlns:a16="http://schemas.microsoft.com/office/drawing/2014/main" val="2588410757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46557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발표일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PP </a:t>
                      </a: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금액 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투자자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5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2022-03-16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16.28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크러스트유니버스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2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2024-04-02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2.22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크러스트유니버스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10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572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E894-C9DD-ADA2-5A42-8AC80688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519F0-DA48-91AD-A274-36B01D897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91F90-7231-6ED7-40D6-97328EE8DB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312D0-2467-FB0F-57CC-96298D78A8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0189A59-FA2A-4048-24F5-FBFDBF120554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BA9F9-9288-998A-5B79-03F64A51BF5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858703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[Kakao] PP </a:t>
            </a:r>
            <a:r>
              <a:rPr lang="ko-KR" altLang="en-US" b="0" dirty="0"/>
              <a:t>사례 </a:t>
            </a:r>
            <a:r>
              <a:rPr lang="en-US" altLang="ko-KR" b="0" dirty="0"/>
              <a:t>(Cat 8, </a:t>
            </a:r>
            <a:r>
              <a:rPr lang="en-US" altLang="ko-KR" sz="2400" dirty="0"/>
              <a:t>Technology &amp; Infrastructure</a:t>
            </a:r>
            <a:r>
              <a:rPr lang="en-US" altLang="ko-KR" b="0" dirty="0"/>
              <a:t>) </a:t>
            </a:r>
          </a:p>
        </p:txBody>
      </p:sp>
      <p:sp>
        <p:nvSpPr>
          <p:cNvPr id="7" name="Google Shape;256;p20">
            <a:extLst>
              <a:ext uri="{FF2B5EF4-FFF2-40B4-BE49-F238E27FC236}">
                <a16:creationId xmlns:a16="http://schemas.microsoft.com/office/drawing/2014/main" id="{13106D5B-0746-85F2-B93F-4831AE634FA5}"/>
              </a:ext>
            </a:extLst>
          </p:cNvPr>
          <p:cNvSpPr txBox="1">
            <a:spLocks/>
          </p:cNvSpPr>
          <p:nvPr/>
        </p:nvSpPr>
        <p:spPr>
          <a:xfrm>
            <a:off x="601998" y="1667949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2015~2024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Cat 8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에는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건</a:t>
            </a:r>
            <a:endParaRPr lang="en-US" altLang="ko-KR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Google Shape;256;p20">
            <a:extLst>
              <a:ext uri="{FF2B5EF4-FFF2-40B4-BE49-F238E27FC236}">
                <a16:creationId xmlns:a16="http://schemas.microsoft.com/office/drawing/2014/main" id="{4AC50D4F-98C3-7251-08FA-BB53072C5C6B}"/>
              </a:ext>
            </a:extLst>
          </p:cNvPr>
          <p:cNvSpPr txBox="1">
            <a:spLocks/>
          </p:cNvSpPr>
          <p:nvPr/>
        </p:nvSpPr>
        <p:spPr>
          <a:xfrm>
            <a:off x="601998" y="2189932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③ </a:t>
            </a:r>
            <a:r>
              <a:rPr lang="ko-KR" altLang="en-US" sz="18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프렌즈게임즈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계열사 출자와 외부 투자 유치가 함께 나타난 사례</a:t>
            </a:r>
            <a:endParaRPr lang="en-US" altLang="ko-KR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34093E9-4E0E-EF97-5F86-3561D4A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110898"/>
              </p:ext>
            </p:extLst>
          </p:nvPr>
        </p:nvGraphicFramePr>
        <p:xfrm>
          <a:off x="838200" y="2765271"/>
          <a:ext cx="8430318" cy="204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val="3082718364"/>
                    </a:ext>
                  </a:extLst>
                </a:gridCol>
                <a:gridCol w="2022438">
                  <a:extLst>
                    <a:ext uri="{9D8B030D-6E8A-4147-A177-3AD203B41FA5}">
                      <a16:colId xmlns:a16="http://schemas.microsoft.com/office/drawing/2014/main" val="2588410757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46557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PP 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자금 공급 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5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2018-03-29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11.00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카카오게임즈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2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2018-04-24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6.50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에이티넘</a:t>
                      </a:r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·LB </a:t>
                      </a:r>
                      <a:r>
                        <a:rPr lang="ko-KR" altLang="en-US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계열 펀드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1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2018-08-17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9.85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미래에셋대우</a:t>
                      </a:r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한국투자파트너스</a:t>
                      </a:r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·KB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증권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25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2018-11-29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3.60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한국투자파트너스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운용 펀드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69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2019-05-16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2.51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카카오게임즈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31235"/>
                  </a:ext>
                </a:extLst>
              </a:tr>
            </a:tbl>
          </a:graphicData>
        </a:graphic>
      </p:graphicFrame>
      <p:sp>
        <p:nvSpPr>
          <p:cNvPr id="12" name="Google Shape;256;p20">
            <a:extLst>
              <a:ext uri="{FF2B5EF4-FFF2-40B4-BE49-F238E27FC236}">
                <a16:creationId xmlns:a16="http://schemas.microsoft.com/office/drawing/2014/main" id="{19C6BC87-1066-41D7-3249-AE0B957D2CA1}"/>
              </a:ext>
            </a:extLst>
          </p:cNvPr>
          <p:cNvSpPr txBox="1">
            <a:spLocks/>
          </p:cNvSpPr>
          <p:nvPr/>
        </p:nvSpPr>
        <p:spPr>
          <a:xfrm>
            <a:off x="601998" y="4807431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④ </a:t>
            </a:r>
            <a:r>
              <a:rPr lang="ko-KR" altLang="en-US" sz="18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디케이테크인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디지털 인프라 계열사에 대한 반복 출자</a:t>
            </a:r>
            <a:endParaRPr lang="en-US" altLang="ko-KR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315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10E6-9583-F3A0-06F7-721E438D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E472-5C64-3EF8-9C24-508C4956E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BC16A9-C0DF-B862-0EC1-7C75B6D9A1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AF8C3-B39B-DF6C-9EE7-7244D370DA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11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F137F6-2E5E-F12E-983A-967C88606752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28140B-CD80-96C5-5372-4B8F253491B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090292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[Kakao] </a:t>
            </a:r>
            <a:r>
              <a:rPr lang="ko-KR" altLang="ko-KR" dirty="0" err="1"/>
              <a:t>Mix</a:t>
            </a:r>
            <a:r>
              <a:rPr lang="ko-KR" altLang="ko-KR" dirty="0"/>
              <a:t>: </a:t>
            </a:r>
            <a:r>
              <a:rPr lang="ko-KR" altLang="ko-KR" dirty="0" err="1"/>
              <a:t>PP에서</a:t>
            </a:r>
            <a:r>
              <a:rPr lang="ko-KR" altLang="ko-KR" dirty="0"/>
              <a:t> </a:t>
            </a:r>
            <a:r>
              <a:rPr lang="ko-KR" altLang="ko-KR" dirty="0" err="1"/>
              <a:t>M&amp;A로</a:t>
            </a:r>
            <a:r>
              <a:rPr lang="ko-KR" altLang="ko-KR" dirty="0"/>
              <a:t> 전환</a:t>
            </a:r>
            <a:r>
              <a:rPr lang="ko-KR" altLang="en-US" b="0" dirty="0"/>
              <a:t> </a:t>
            </a:r>
            <a:r>
              <a:rPr lang="en-US" altLang="ko-KR" b="0" dirty="0"/>
              <a:t>(Cat 7, </a:t>
            </a:r>
            <a:r>
              <a:rPr lang="en-US" altLang="ko-KR" sz="2400" dirty="0"/>
              <a:t>Commerce &amp; Marketing</a:t>
            </a:r>
            <a:r>
              <a:rPr lang="en-US" altLang="ko-KR" b="0" dirty="0"/>
              <a:t>) 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B48AE68-2FB4-5530-579D-8A10CADB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071839"/>
              </p:ext>
            </p:extLst>
          </p:nvPr>
        </p:nvGraphicFramePr>
        <p:xfrm>
          <a:off x="1880841" y="3240742"/>
          <a:ext cx="8430318" cy="2871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3432">
                  <a:extLst>
                    <a:ext uri="{9D8B030D-6E8A-4147-A177-3AD203B41FA5}">
                      <a16:colId xmlns:a16="http://schemas.microsoft.com/office/drawing/2014/main" val="3082718364"/>
                    </a:ext>
                  </a:extLst>
                </a:gridCol>
                <a:gridCol w="1673432">
                  <a:extLst>
                    <a:ext uri="{9D8B030D-6E8A-4147-A177-3AD203B41FA5}">
                      <a16:colId xmlns:a16="http://schemas.microsoft.com/office/drawing/2014/main" val="4227674258"/>
                    </a:ext>
                  </a:extLst>
                </a:gridCol>
                <a:gridCol w="1620981">
                  <a:extLst>
                    <a:ext uri="{9D8B030D-6E8A-4147-A177-3AD203B41FA5}">
                      <a16:colId xmlns:a16="http://schemas.microsoft.com/office/drawing/2014/main" val="2588410757"/>
                    </a:ext>
                  </a:extLst>
                </a:gridCol>
                <a:gridCol w="3462473">
                  <a:extLst>
                    <a:ext uri="{9D8B030D-6E8A-4147-A177-3AD203B41FA5}">
                      <a16:colId xmlns:a16="http://schemas.microsoft.com/office/drawing/2014/main" val="2546557945"/>
                    </a:ext>
                  </a:extLst>
                </a:gridCol>
              </a:tblGrid>
              <a:tr h="400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구간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그래프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주요 사례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금액 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50003"/>
                  </a:ext>
                </a:extLst>
              </a:tr>
              <a:tr h="36730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2015~2016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PP </a:t>
                      </a:r>
                      <a:r>
                        <a:rPr lang="ko-KR" altLang="en-US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우세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밸류포션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증자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0.60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20918"/>
                  </a:ext>
                </a:extLst>
              </a:tr>
              <a:tr h="367307">
                <a:tc rowSpan="2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2017~2018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M&amp;A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우세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JOH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27.49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10861"/>
                  </a:ext>
                </a:extLst>
              </a:tr>
              <a:tr h="36730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endParaRPr lang="en-US" altLang="ko-KR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밸류포션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4.02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917411"/>
                  </a:ext>
                </a:extLst>
              </a:tr>
              <a:tr h="36730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2019~2020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비활성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해당 거래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25938"/>
                  </a:ext>
                </a:extLst>
              </a:tr>
              <a:tr h="634439">
                <a:tc rowSpan="2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2021~2022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M&amp;A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우세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플러스티브이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5.10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69731"/>
                  </a:ext>
                </a:extLst>
              </a:tr>
              <a:tr h="36730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endParaRPr lang="en-US" altLang="ko-KR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Blue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Tie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0.42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826093"/>
                  </a:ext>
                </a:extLst>
              </a:tr>
            </a:tbl>
          </a:graphicData>
        </a:graphic>
      </p:graphicFrame>
      <p:sp>
        <p:nvSpPr>
          <p:cNvPr id="7" name="Google Shape;256;p20">
            <a:extLst>
              <a:ext uri="{FF2B5EF4-FFF2-40B4-BE49-F238E27FC236}">
                <a16:creationId xmlns:a16="http://schemas.microsoft.com/office/drawing/2014/main" id="{565B8277-2C7A-C04B-D383-2F7545A3A722}"/>
              </a:ext>
            </a:extLst>
          </p:cNvPr>
          <p:cNvSpPr txBox="1">
            <a:spLocks/>
          </p:cNvSpPr>
          <p:nvPr/>
        </p:nvSpPr>
        <p:spPr>
          <a:xfrm>
            <a:off x="601998" y="1989572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Kakao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커머스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마케팅 분야 기업거래는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주도로 이뤄진 후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M&amp;A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거래 금액이 더 크게 나타남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5D1AAD-A49E-6688-D5F7-C50031AAE3E7}"/>
              </a:ext>
            </a:extLst>
          </p:cNvPr>
          <p:cNvSpPr/>
          <p:nvPr/>
        </p:nvSpPr>
        <p:spPr>
          <a:xfrm>
            <a:off x="697274" y="2484841"/>
            <a:ext cx="10164994" cy="46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latinLnBrk="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카카오 페이지 이용자 기반 광고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마케팅 사업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카카오프렌즈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기반 오프라인 리테일 사업 등을 추진</a:t>
            </a:r>
            <a:endParaRPr lang="en-US" altLang="ko-KR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4963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3309-C95E-A032-91CA-7A6969F4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518C0-5DF1-6733-3EA6-0E9B67AD8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91A96-06F7-8EC8-57FD-A6A92E7466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66CFC-CFDF-D9D4-83A0-E7CCD65E9A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12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05FB533-0F7B-286E-B863-5207F606197E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62C0D-34D2-46B6-0EC1-02FD938229D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Naver </a:t>
            </a:r>
            <a:r>
              <a:rPr lang="ko-KR" altLang="en-US" b="0" dirty="0"/>
              <a:t>기업거래</a:t>
            </a:r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633DD5-BC43-3871-6530-8892D6783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408" y="1946858"/>
            <a:ext cx="7781982" cy="4046631"/>
          </a:xfrm>
          <a:prstGeom prst="rect">
            <a:avLst/>
          </a:prstGeom>
        </p:spPr>
      </p:pic>
      <p:sp>
        <p:nvSpPr>
          <p:cNvPr id="14" name="Google Shape;256;p20">
            <a:extLst>
              <a:ext uri="{FF2B5EF4-FFF2-40B4-BE49-F238E27FC236}">
                <a16:creationId xmlns:a16="http://schemas.microsoft.com/office/drawing/2014/main" id="{00BDC5A8-9A76-00D3-5092-E9CD01F8E156}"/>
              </a:ext>
            </a:extLst>
          </p:cNvPr>
          <p:cNvSpPr txBox="1">
            <a:spLocks/>
          </p:cNvSpPr>
          <p:nvPr/>
        </p:nvSpPr>
        <p:spPr>
          <a:xfrm>
            <a:off x="7978391" y="2136386"/>
            <a:ext cx="3801103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[M&amp;A] Category 2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(Media Platforms)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Google Shape;256;p20">
            <a:extLst>
              <a:ext uri="{FF2B5EF4-FFF2-40B4-BE49-F238E27FC236}">
                <a16:creationId xmlns:a16="http://schemas.microsoft.com/office/drawing/2014/main" id="{0500EA8F-5C56-4596-3890-F58FDF02A05F}"/>
              </a:ext>
            </a:extLst>
          </p:cNvPr>
          <p:cNvSpPr txBox="1">
            <a:spLocks/>
          </p:cNvSpPr>
          <p:nvPr/>
        </p:nvSpPr>
        <p:spPr>
          <a:xfrm>
            <a:off x="7978391" y="3100725"/>
            <a:ext cx="3801103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[PP] Category 4, 12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(Music &amp; Fan Entertainment)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(Education)</a:t>
            </a:r>
          </a:p>
        </p:txBody>
      </p:sp>
      <p:sp>
        <p:nvSpPr>
          <p:cNvPr id="8" name="Google Shape;256;p20">
            <a:extLst>
              <a:ext uri="{FF2B5EF4-FFF2-40B4-BE49-F238E27FC236}">
                <a16:creationId xmlns:a16="http://schemas.microsoft.com/office/drawing/2014/main" id="{C4D0E46B-8422-B3F8-836E-7562B2869181}"/>
              </a:ext>
            </a:extLst>
          </p:cNvPr>
          <p:cNvSpPr txBox="1">
            <a:spLocks/>
          </p:cNvSpPr>
          <p:nvPr/>
        </p:nvSpPr>
        <p:spPr>
          <a:xfrm>
            <a:off x="7978391" y="4333034"/>
            <a:ext cx="3801103" cy="86944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[M&amp;A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▶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PP] Category 9 </a:t>
            </a:r>
            <a:b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(Mobility &amp; Transportation)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4879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FC02-3818-8544-DAFC-71D3EBEB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B34EF-031B-4E6F-6ECF-ABF0C6BE4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5CA904-A7C3-DA84-0119-682B51E71F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321CB-FB57-4E4E-1DD1-4C93D3BAC2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13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D34C4B6-C596-72E8-7043-C9B4473F8C2E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75B5A7-BD17-1737-55E9-E9CDAB0883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[Naver]  </a:t>
            </a:r>
            <a:r>
              <a:rPr lang="ko-KR" altLang="en-US" b="0" dirty="0"/>
              <a:t>사례 </a:t>
            </a:r>
            <a:r>
              <a:rPr lang="en-US" altLang="ko-KR" b="0" dirty="0"/>
              <a:t>(Cat 2, </a:t>
            </a:r>
            <a:r>
              <a:rPr lang="en-US" altLang="ko-KR" sz="2400" dirty="0"/>
              <a:t>Media Platforms</a:t>
            </a:r>
            <a:r>
              <a:rPr lang="en-US" altLang="ko-KR" b="0" dirty="0"/>
              <a:t>)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11664EB-0517-32A7-F781-B9AA24DF7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348387"/>
              </p:ext>
            </p:extLst>
          </p:nvPr>
        </p:nvGraphicFramePr>
        <p:xfrm>
          <a:off x="786887" y="2435648"/>
          <a:ext cx="10618227" cy="34752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576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573076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2091486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4632839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73207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순위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2014.12.18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LINE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MixRadio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19.36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Microsoft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로부터 개인화 음악 스트리밍 사업 인수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개발팀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경영진을 함께 영입하고 영국 브리스톨 거점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2009.4.7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Yahoo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Japan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GyaO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지분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51%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동영상 스트리밍 기업 인수 후 야후의 동영상 서비스와 결합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2005.3.31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Yahoo Japan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Curiocity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90.69%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야후재팬의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지분 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682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891E-A679-E06D-75FF-2219E639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CAD21-79F8-7B51-26F7-3CCB968D7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1341D-A925-699F-92A5-55FAE18C02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23FDD5-74DC-3ADC-E0AF-80F2B9CD80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D9A3B2-24F6-421D-0530-4CD8A6BFC2D8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4328EA-A571-47DB-52D6-194C09809AF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[Naver] PP </a:t>
            </a:r>
            <a:r>
              <a:rPr lang="ko-KR" altLang="en-US" b="0" dirty="0"/>
              <a:t>사례 </a:t>
            </a:r>
            <a:r>
              <a:rPr lang="en-US" altLang="ko-KR" b="0" dirty="0"/>
              <a:t>Category 4 (Music &amp; Fan Entertainment)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39B4CF8-A812-CED9-A373-15B45D37E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07264"/>
              </p:ext>
            </p:extLst>
          </p:nvPr>
        </p:nvGraphicFramePr>
        <p:xfrm>
          <a:off x="786887" y="2435648"/>
          <a:ext cx="10618227" cy="3566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576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573076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2091486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4632839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73207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순위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2021.1.27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BeNX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신주 발행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— NAVER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692.21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전체 조달액 약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7,667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이 중 원문에 명시된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NAVER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인수분은 약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3,548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2022.8.30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BeNX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신주 발행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110.43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약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1,574.6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조달 계획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b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투자자는 원문에 명시되지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2022.8.30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BeNX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신주 발행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— HYBE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71.50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HYBE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 약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1,000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출자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2019.1.31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Watong Entertainment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증자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14.04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기존 투자자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NAVER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WEBTOON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약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156.5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규모 투자에 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416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278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1A32-275D-B38F-38C4-6E12B799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8BE22-3223-5FF2-40E8-FDC96CE5E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CC89BB-E5E3-8969-F8F9-5482474E71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93FB5-9006-03A4-5166-F50C7520C4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15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604394D-4697-CBFE-F046-8B5DA9ADEDB8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C1D4C-C1E6-4A95-5EF1-7BFD3935A81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[Naver] PP </a:t>
            </a:r>
            <a:r>
              <a:rPr lang="ko-KR" altLang="en-US" b="0" dirty="0"/>
              <a:t>사례 </a:t>
            </a:r>
            <a:r>
              <a:rPr lang="en-US" altLang="ko-KR" b="0" dirty="0"/>
              <a:t>Category 12 (Education)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04D21B7-5AFD-F627-25FE-5429E4EAC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52689"/>
              </p:ext>
            </p:extLst>
          </p:nvPr>
        </p:nvGraphicFramePr>
        <p:xfrm>
          <a:off x="786887" y="2435648"/>
          <a:ext cx="10618227" cy="2926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576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573076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2091486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4632839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73207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순위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2020.12.29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Cake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상환전환우선주 발행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8.96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약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조달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Comments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Milestone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계열 투자자 참여 명시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2021.6.22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Cake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우선주 발행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8.41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약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100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원 추가 조달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기존 투자자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Milestone Growth Partners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61982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2017.12.19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STAIRS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증자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— LINE GAMES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데이터상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Education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으로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분류되지만 게임 관련 법인으로 카테고리 재검토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108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DD7E-B88C-CBCD-6E4B-370A7C62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431DE-2FAF-ECDD-DD04-AFF3E8518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87273-2C66-AE0F-EE3B-3C9C31473C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3C236-D930-70C1-E892-C78AC5D423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16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8301B93-A2F1-3377-2913-8DEFA7009CC0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019837-CAC4-A807-66D4-26CAF4EB62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1180326"/>
            <a:ext cx="11463808" cy="897068"/>
          </a:xfrm>
        </p:spPr>
        <p:txBody>
          <a:bodyPr/>
          <a:lstStyle/>
          <a:p>
            <a:pPr lvl="0"/>
            <a:r>
              <a:rPr lang="en-US" altLang="ko-KR" b="0" dirty="0"/>
              <a:t>[Naver] M&amp;A ▶ PP </a:t>
            </a:r>
            <a:r>
              <a:rPr lang="ko-KR" altLang="en-US" b="0" dirty="0"/>
              <a:t>사례 </a:t>
            </a:r>
            <a:r>
              <a:rPr lang="en-US" altLang="ko-KR" b="0" dirty="0"/>
              <a:t>Category 9 (Mobility &amp; Transportation)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9380A11-39FC-B54B-36FB-28D8F7E27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6128"/>
              </p:ext>
            </p:extLst>
          </p:nvPr>
        </p:nvGraphicFramePr>
        <p:xfrm>
          <a:off x="786887" y="2435648"/>
          <a:ext cx="10618228" cy="2652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1050">
                  <a:extLst>
                    <a:ext uri="{9D8B030D-6E8A-4147-A177-3AD203B41FA5}">
                      <a16:colId xmlns:a16="http://schemas.microsoft.com/office/drawing/2014/main" val="3354596115"/>
                    </a:ext>
                  </a:extLst>
                </a:gridCol>
                <a:gridCol w="1500008">
                  <a:extLst>
                    <a:ext uri="{9D8B030D-6E8A-4147-A177-3AD203B41FA5}">
                      <a16:colId xmlns:a16="http://schemas.microsoft.com/office/drawing/2014/main" val="3904452262"/>
                    </a:ext>
                  </a:extLst>
                </a:gridCol>
                <a:gridCol w="1240188">
                  <a:extLst>
                    <a:ext uri="{9D8B030D-6E8A-4147-A177-3AD203B41FA5}">
                      <a16:colId xmlns:a16="http://schemas.microsoft.com/office/drawing/2014/main" val="3557153594"/>
                    </a:ext>
                  </a:extLst>
                </a:gridCol>
                <a:gridCol w="1821616">
                  <a:extLst>
                    <a:ext uri="{9D8B030D-6E8A-4147-A177-3AD203B41FA5}">
                      <a16:colId xmlns:a16="http://schemas.microsoft.com/office/drawing/2014/main" val="4164686763"/>
                    </a:ext>
                  </a:extLst>
                </a:gridCol>
                <a:gridCol w="1410314">
                  <a:extLst>
                    <a:ext uri="{9D8B030D-6E8A-4147-A177-3AD203B41FA5}">
                      <a16:colId xmlns:a16="http://schemas.microsoft.com/office/drawing/2014/main" val="2473830497"/>
                    </a:ext>
                  </a:extLst>
                </a:gridCol>
                <a:gridCol w="4035052">
                  <a:extLst>
                    <a:ext uri="{9D8B030D-6E8A-4147-A177-3AD203B41FA5}">
                      <a16:colId xmlns:a16="http://schemas.microsoft.com/office/drawing/2014/main" val="4413342"/>
                    </a:ext>
                  </a:extLst>
                </a:gridCol>
              </a:tblGrid>
              <a:tr h="73207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번호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거래유형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대상 기업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거래금액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백만달러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거래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9574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2016.10.13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M&amp;A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LINE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Demae-Can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 취득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38.57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기존 주주로부터 약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22%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지분을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엔에 취득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2450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2020.3.26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Demae-Can 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신주 발행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284.00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LINE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Mirai Fund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 총 약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엔 규모 신주 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18756"/>
                  </a:ext>
                </a:extLst>
              </a:tr>
              <a:tr h="41832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88803" marR="88803" marT="44401" marB="4440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2020.7.30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LINE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Man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외부 투자 유치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110.00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BRV Capital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Management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로부터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억 달러 조달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45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92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C58E-7506-F157-FB3A-BFBE6991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D7C59-DCE8-A109-7B8B-D12C6EB69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E31FA6-EE77-318E-CA08-A93761C124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40CFC6-8457-B320-A067-59FC4F8830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17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F7CF1A0-9FDD-F0B5-C140-DC2F1ED0637C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AF67EF-59E2-6939-C6DF-CFE2E01D6D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816923"/>
            <a:ext cx="11463808" cy="897068"/>
          </a:xfrm>
        </p:spPr>
        <p:txBody>
          <a:bodyPr/>
          <a:lstStyle/>
          <a:p>
            <a:pPr lvl="0"/>
            <a:r>
              <a:rPr lang="ko-KR" altLang="en-US" b="0" dirty="0"/>
              <a:t>기업별 주요 거래 패턴과 거래 구조의 차이</a:t>
            </a:r>
            <a:endParaRPr lang="en-US" altLang="ko-KR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C17BEA-CE29-DC44-3A79-81C011A3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259394"/>
              </p:ext>
            </p:extLst>
          </p:nvPr>
        </p:nvGraphicFramePr>
        <p:xfrm>
          <a:off x="838200" y="2448656"/>
          <a:ext cx="10515600" cy="3322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378">
                  <a:extLst>
                    <a:ext uri="{9D8B030D-6E8A-4147-A177-3AD203B41FA5}">
                      <a16:colId xmlns:a16="http://schemas.microsoft.com/office/drawing/2014/main" val="1678306212"/>
                    </a:ext>
                  </a:extLst>
                </a:gridCol>
                <a:gridCol w="3121074">
                  <a:extLst>
                    <a:ext uri="{9D8B030D-6E8A-4147-A177-3AD203B41FA5}">
                      <a16:colId xmlns:a16="http://schemas.microsoft.com/office/drawing/2014/main" val="611199547"/>
                    </a:ext>
                  </a:extLst>
                </a:gridCol>
                <a:gridCol w="3121074">
                  <a:extLst>
                    <a:ext uri="{9D8B030D-6E8A-4147-A177-3AD203B41FA5}">
                      <a16:colId xmlns:a16="http://schemas.microsoft.com/office/drawing/2014/main" val="4205974632"/>
                    </a:ext>
                  </a:extLst>
                </a:gridCol>
                <a:gridCol w="3121074">
                  <a:extLst>
                    <a:ext uri="{9D8B030D-6E8A-4147-A177-3AD203B41FA5}">
                      <a16:colId xmlns:a16="http://schemas.microsoft.com/office/drawing/2014/main" val="1701052761"/>
                    </a:ext>
                  </a:extLst>
                </a:gridCol>
              </a:tblGrid>
              <a:tr h="2783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기업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관찰된 거래 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주요 사례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해석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259203"/>
                  </a:ext>
                </a:extLst>
              </a:tr>
              <a:tr h="811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CJ ENM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방송 분야 M&amp;A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</a:t>
                      </a:r>
                      <a:b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커머스·마케팅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분야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온미디어 인수,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M-net·CJ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Media 합병 /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오트렌드랩·DADA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MNC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외부 방송사업 확보와 내부 조직 통합이 함께 나타남.</a:t>
                      </a:r>
                      <a:endParaRPr lang="en-US" altLang="ko-KR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PP에는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기존 자회사 출자와 외부 투자 유치가 공존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43108"/>
                  </a:ext>
                </a:extLst>
              </a:tr>
              <a:tr h="9047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Kakao</a:t>
                      </a:r>
                      <a:endParaRPr lang="ko-KR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엔터테인먼트 M&amp;A, </a:t>
                      </a:r>
                      <a:b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기술 분야 PP, </a:t>
                      </a:r>
                      <a:b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커머스·마케팅의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b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PP→M&amp;A 우세 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쇼노트·BH·숲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/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카카오브레인·그라운드X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/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밸류포션·JOH</a:t>
                      </a:r>
                      <a:endParaRPr lang="ko-KR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콘텐츠·매니지먼트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기반 확보, 기술 계열사에 대한 반복 출자, 기존 투자기업의 소유구조 재편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43530"/>
                  </a:ext>
                </a:extLst>
              </a:tr>
              <a:tr h="6959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NAVER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미디어 서비스 M&amp;A, </a:t>
                      </a:r>
                      <a:b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팬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플랫폼·교육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PP, </a:t>
                      </a:r>
                      <a:b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모빌리티의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M&amp;A→PP 흐름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MixRadio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/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BeNX·Cake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/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Demae-Can·LINE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</a:t>
                      </a:r>
                      <a:endParaRPr lang="ko-KR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서비스 확보와 함께 파트너십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구축·추가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자금 </a:t>
                      </a:r>
                      <a:r>
                        <a:rPr 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공급·계열사의</a:t>
                      </a:r>
                      <a:r>
                        <a:rPr 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외부 투자 유치가 나타남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564503"/>
                  </a:ext>
                </a:extLst>
              </a:tr>
            </a:tbl>
          </a:graphicData>
        </a:graphic>
      </p:graphicFrame>
      <p:sp>
        <p:nvSpPr>
          <p:cNvPr id="11" name="Google Shape;256;p20">
            <a:extLst>
              <a:ext uri="{FF2B5EF4-FFF2-40B4-BE49-F238E27FC236}">
                <a16:creationId xmlns:a16="http://schemas.microsoft.com/office/drawing/2014/main" id="{BB2D4045-5210-8CD5-B609-CA79F13CE034}"/>
              </a:ext>
            </a:extLst>
          </p:cNvPr>
          <p:cNvSpPr txBox="1">
            <a:spLocks/>
          </p:cNvSpPr>
          <p:nvPr/>
        </p:nvSpPr>
        <p:spPr>
          <a:xfrm>
            <a:off x="601998" y="1552980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선정 사례에서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CJ ENM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방송사업 인수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통합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Kakao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는 엔터테인먼트 사업 확대와 기술 계열사 자금 공급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NAVER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관련 거래는 서비스 확보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사업 협력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외부 자금 유치가 두드러짐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2" name="Google Shape;256;p20">
            <a:extLst>
              <a:ext uri="{FF2B5EF4-FFF2-40B4-BE49-F238E27FC236}">
                <a16:creationId xmlns:a16="http://schemas.microsoft.com/office/drawing/2014/main" id="{2F026EEC-1C9E-047D-914C-B332EA872578}"/>
              </a:ext>
            </a:extLst>
          </p:cNvPr>
          <p:cNvSpPr txBox="1">
            <a:spLocks/>
          </p:cNvSpPr>
          <p:nvPr/>
        </p:nvSpPr>
        <p:spPr>
          <a:xfrm>
            <a:off x="601998" y="5716680"/>
            <a:ext cx="10988003" cy="55748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latinLnBrk="0">
              <a:lnSpc>
                <a:spcPct val="115000"/>
              </a:lnSpc>
              <a:buSzPts val="1800"/>
              <a:buNone/>
            </a:pP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거래 당시 기업집단 소속과 인수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매각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투자 유치 방향을 구분할 필요는 있음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(ex.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카카오 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사례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endParaRPr lang="en-US" altLang="ko-KR" sz="1800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6876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03AB4-C659-263E-DF40-6D75C76D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9F056-60BE-7C62-DDBD-9DF68D297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B72BC3-F1E1-750B-A71E-68B298EAE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0C66A6-0E3E-C1E0-E800-2DCEA90743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18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77B16F3-9F47-8DE6-8785-953C7691611A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57C84B-451A-9ECB-EDC9-CA340D88782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818315"/>
            <a:ext cx="11463808" cy="897068"/>
          </a:xfrm>
        </p:spPr>
        <p:txBody>
          <a:bodyPr/>
          <a:lstStyle/>
          <a:p>
            <a:pPr lvl="0"/>
            <a:r>
              <a:rPr lang="ko-KR" altLang="en-US" b="0" dirty="0"/>
              <a:t>카테고리별 기업 전략 비교</a:t>
            </a:r>
            <a:endParaRPr lang="en-US" altLang="ko-KR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5A24B9-1EC6-8971-723B-58C0FB146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334661"/>
              </p:ext>
            </p:extLst>
          </p:nvPr>
        </p:nvGraphicFramePr>
        <p:xfrm>
          <a:off x="601999" y="1825624"/>
          <a:ext cx="11197915" cy="3523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3915">
                  <a:extLst>
                    <a:ext uri="{9D8B030D-6E8A-4147-A177-3AD203B41FA5}">
                      <a16:colId xmlns:a16="http://schemas.microsoft.com/office/drawing/2014/main" val="23286135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62798374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1559529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04807059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2050725175"/>
                    </a:ext>
                  </a:extLst>
                </a:gridCol>
              </a:tblGrid>
              <a:tr h="33061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카테고리</a:t>
                      </a: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CJ ENM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 err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Kakao</a:t>
                      </a:r>
                      <a:endParaRPr lang="ko-KR" sz="160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NAVER 관련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비교 포인트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959839"/>
                  </a:ext>
                </a:extLst>
              </a:tr>
              <a:tr h="521732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Media </a:t>
                      </a: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Platforms</a:t>
                      </a:r>
                      <a:endParaRPr lang="ko-KR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온미디어 인수 및 </a:t>
                      </a:r>
                      <a:b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계열 방송사 합병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LINE의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MixRadio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인수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CJ ENM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은 방송채널을 인수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통합했고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LINE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은 음악 스트리밍 서비스를 인수해 제공 서비스를 넓힘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58497"/>
                  </a:ext>
                </a:extLst>
              </a:tr>
              <a:tr h="521732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Music</a:t>
                      </a:r>
                      <a:r>
                        <a:rPr lang="ko-KR" sz="14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&amp; </a:t>
                      </a: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Fan</a:t>
                      </a:r>
                      <a:r>
                        <a:rPr lang="ko-KR" sz="14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Entertainment</a:t>
                      </a: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쇼노트·BH·숲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등 인수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BeNX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투자 및 </a:t>
                      </a:r>
                      <a:b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LIVE 사업 이전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카카오는 아티스트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공연 사업을 인수했고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네이버는 지분 투자와 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 LIVE 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사업 이전으로 팬 플랫폼을 결합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391528"/>
                  </a:ext>
                </a:extLst>
              </a:tr>
              <a:tr h="74470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Commerce</a:t>
                      </a:r>
                      <a:r>
                        <a:rPr lang="ko-KR" sz="14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&amp; </a:t>
                      </a: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Marketing</a:t>
                      </a:r>
                      <a:endParaRPr lang="ko-KR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오트렌드랩 등 출자, DADA MNC 외부 투자 유치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밸류포션·JOH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등 </a:t>
                      </a: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인수·재편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CJ ENM 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관련 사례는 계열사에 자금을 공급하거나 외부 투자를 유치하는 방식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카카오는 기업을 인수해 브랜드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광고 역량을 결합하는 방식이 나타남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443413"/>
                  </a:ext>
                </a:extLst>
              </a:tr>
              <a:tr h="521732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Technology &amp; </a:t>
                      </a: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Infrastructure</a:t>
                      </a:r>
                      <a:endParaRPr lang="ko-KR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카카오브레인·그라운드X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등 반복 출자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카카오는 기존 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AI, 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블록체인 계열사에 반복 출자함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92952"/>
                  </a:ext>
                </a:extLst>
              </a:tr>
              <a:tr h="521732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Mobility</a:t>
                      </a:r>
                      <a:endParaRPr lang="ko-KR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Demae-Can·LINE</a:t>
                      </a:r>
                      <a:r>
                        <a:rPr 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LINE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은 배달기업의 지분을 산 뒤 증자에 참여했고</a:t>
                      </a: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LINE Man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은 외부 투자를 유치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407398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ko-KR" sz="1400" dirty="0" err="1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Education</a:t>
                      </a:r>
                      <a:endParaRPr lang="ko-KR" sz="14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72522" marR="72522" marT="36261" marB="3626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ko-KR" sz="14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Cake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Cake</a:t>
                      </a:r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는 외부 투자자로부터 자금을 조달</a:t>
                      </a:r>
                      <a:endParaRPr lang="ko-KR" sz="14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6043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CFA6A02-BD70-763A-706D-D9D7D6C6E132}"/>
              </a:ext>
            </a:extLst>
          </p:cNvPr>
          <p:cNvSpPr txBox="1"/>
          <p:nvPr/>
        </p:nvSpPr>
        <p:spPr>
          <a:xfrm>
            <a:off x="525779" y="5459282"/>
            <a:ext cx="9588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같은 카테고리에서도 기업 인수, 내부 통합, 자회사 추가 출자, 외부 투자 유치 등 활용 방식이 다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름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기업 </a:t>
            </a:r>
            <a:r>
              <a:rPr lang="ko-KR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전략을 비교하려면 M&amp;A·PP 유형과 함께 실제 거래 방향과 거래 후 관계를 확인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할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필요 있음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8267A6-B130-CE86-5F4E-4428F16B1C18}"/>
              </a:ext>
            </a:extLst>
          </p:cNvPr>
          <p:cNvSpPr/>
          <p:nvPr/>
        </p:nvSpPr>
        <p:spPr>
          <a:xfrm>
            <a:off x="9021780" y="1441224"/>
            <a:ext cx="2743200" cy="384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algn="r" latinLnBrk="0">
              <a:lnSpc>
                <a:spcPct val="150000"/>
              </a:lnSpc>
              <a:buSzPts val="1800"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 - =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 분석에서 사례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미제시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7063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0923-2647-B8A4-BA1A-AAA829B5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11B16-287E-76A5-BABA-42117EA5C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998" y="404432"/>
            <a:ext cx="3438532" cy="413883"/>
          </a:xfrm>
        </p:spPr>
        <p:txBody>
          <a:bodyPr>
            <a:noAutofit/>
          </a:bodyPr>
          <a:lstStyle/>
          <a:p>
            <a:r>
              <a:rPr lang="en-US" altLang="ko-KR" sz="2200" dirty="0"/>
              <a:t>S&amp;P 500 </a:t>
            </a:r>
            <a:endParaRPr lang="ko-KR" altLang="en-US" sz="22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630AE3-9CEB-CFAC-D7C8-EF517FCBB2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5687" y="6356350"/>
            <a:ext cx="8423364" cy="365125"/>
          </a:xfrm>
        </p:spPr>
        <p:txBody>
          <a:bodyPr/>
          <a:lstStyle/>
          <a:p>
            <a:pPr algn="l"/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필요할 경우 표기하세요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A0A2B5-5FCE-9060-E74D-EFC28BBFF7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44155C-43CD-491A-B9D5-120B7A734AE7}" type="slidenum">
              <a:rPr lang="ko-KR" altLang="en-US" smtClean="0"/>
              <a:t>19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EF1DA20-983B-E52D-FD5E-73569C5250C0}"/>
              </a:ext>
            </a:extLst>
          </p:cNvPr>
          <p:cNvCxnSpPr>
            <a:cxnSpLocks/>
          </p:cNvCxnSpPr>
          <p:nvPr/>
        </p:nvCxnSpPr>
        <p:spPr>
          <a:xfrm flipV="1">
            <a:off x="2040835" y="580913"/>
            <a:ext cx="9738660" cy="32149"/>
          </a:xfrm>
          <a:prstGeom prst="line">
            <a:avLst/>
          </a:prstGeom>
          <a:ln w="6350">
            <a:solidFill>
              <a:srgbClr val="900E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C0A02-2E70-3A4E-B647-D50C74B1DBE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687" y="818315"/>
            <a:ext cx="11463808" cy="897068"/>
          </a:xfrm>
        </p:spPr>
        <p:txBody>
          <a:bodyPr/>
          <a:lstStyle/>
          <a:p>
            <a:pPr lvl="0"/>
            <a:r>
              <a:rPr lang="ko-KR" altLang="en-US" b="0" dirty="0"/>
              <a:t>사례 분석의 시사점과 후속 분석 방향</a:t>
            </a:r>
            <a:endParaRPr lang="en-US" altLang="ko-KR" b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ED74AF-CE1B-898C-6F99-7AF4C25C080A}"/>
              </a:ext>
            </a:extLst>
          </p:cNvPr>
          <p:cNvSpPr/>
          <p:nvPr/>
        </p:nvSpPr>
        <p:spPr>
          <a:xfrm>
            <a:off x="1112216" y="1942873"/>
            <a:ext cx="418756" cy="418756"/>
          </a:xfrm>
          <a:prstGeom prst="ellipse">
            <a:avLst/>
          </a:prstGeom>
          <a:solidFill>
            <a:srgbClr val="900E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A2F0B7-60A3-E30D-9B28-377336A7ADD7}"/>
              </a:ext>
            </a:extLst>
          </p:cNvPr>
          <p:cNvSpPr/>
          <p:nvPr/>
        </p:nvSpPr>
        <p:spPr>
          <a:xfrm>
            <a:off x="1648330" y="1956342"/>
            <a:ext cx="9388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이번 분석에서 확인한 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A691B4-D4F6-53B2-4440-AF0D77F0AF23}"/>
              </a:ext>
            </a:extLst>
          </p:cNvPr>
          <p:cNvSpPr/>
          <p:nvPr/>
        </p:nvSpPr>
        <p:spPr>
          <a:xfrm>
            <a:off x="1648330" y="2404925"/>
            <a:ext cx="9859042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같은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M&amp;A·PP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라도 기업 전략상 의미는 다름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M&amp;A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에는 외부 사업 인수와 계열사 통합이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PP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에는 계열사 추가 출자와 외부 투자 유치가 함께 포함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거래금액의 증감을 곧바로 외부 사업 확장이나 신규 투자 확대라고 해석하기 어려울 수 있음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189B0AD-4D3B-99CD-A651-ECF844F3930A}"/>
              </a:ext>
            </a:extLst>
          </p:cNvPr>
          <p:cNvSpPr/>
          <p:nvPr/>
        </p:nvSpPr>
        <p:spPr>
          <a:xfrm>
            <a:off x="1112216" y="3580200"/>
            <a:ext cx="418756" cy="418756"/>
          </a:xfrm>
          <a:prstGeom prst="ellipse">
            <a:avLst/>
          </a:prstGeom>
          <a:solidFill>
            <a:srgbClr val="900E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85C3FD-9781-3E5E-5F49-39612410F58D}"/>
              </a:ext>
            </a:extLst>
          </p:cNvPr>
          <p:cNvSpPr/>
          <p:nvPr/>
        </p:nvSpPr>
        <p:spPr>
          <a:xfrm>
            <a:off x="1648330" y="3593669"/>
            <a:ext cx="9388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To-do-list</a:t>
            </a:r>
            <a:endParaRPr lang="ko-KR" altLang="en-US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615CCA-1AD9-3523-2A45-5A4F801D35D9}"/>
              </a:ext>
            </a:extLst>
          </p:cNvPr>
          <p:cNvSpPr/>
          <p:nvPr/>
        </p:nvSpPr>
        <p:spPr>
          <a:xfrm>
            <a:off x="1648330" y="3987069"/>
            <a:ext cx="9388825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질문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&amp;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설계 확정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865B290-671A-DB82-FAEA-B61A571C9D70}"/>
              </a:ext>
            </a:extLst>
          </p:cNvPr>
          <p:cNvSpPr/>
          <p:nvPr/>
        </p:nvSpPr>
        <p:spPr>
          <a:xfrm>
            <a:off x="1112216" y="4509171"/>
            <a:ext cx="418756" cy="418756"/>
          </a:xfrm>
          <a:prstGeom prst="ellipse">
            <a:avLst/>
          </a:prstGeom>
          <a:solidFill>
            <a:srgbClr val="900E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1564B6-483A-4286-5EDD-BF589BABA1CF}"/>
              </a:ext>
            </a:extLst>
          </p:cNvPr>
          <p:cNvSpPr/>
          <p:nvPr/>
        </p:nvSpPr>
        <p:spPr>
          <a:xfrm>
            <a:off x="1648330" y="4522640"/>
            <a:ext cx="9388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논의 사항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A7A44A1-77E8-F5E5-6883-5E7548E3D944}"/>
              </a:ext>
            </a:extLst>
          </p:cNvPr>
          <p:cNvSpPr/>
          <p:nvPr/>
        </p:nvSpPr>
        <p:spPr>
          <a:xfrm>
            <a:off x="1648330" y="4934636"/>
            <a:ext cx="9388825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연구질문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기업들이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어떤 분야에서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M&amp;A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활용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하는지 비교할 것인가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</a:t>
            </a:r>
            <a:b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아니면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기업별 사업 확장과 자금 조달 방식의 차이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설명할 것인가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M&amp;A·PP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비교의 기준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거래 건수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금액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카테고리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시기별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분포를 중심으로 비교할 것인가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</a:t>
            </a:r>
            <a:b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실제 거래 구조와 목적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까지 구분해 비교할 것인가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15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</TotalTime>
  <Words>3845</Words>
  <Application>Microsoft Office PowerPoint</Application>
  <PresentationFormat>와이드스크린</PresentationFormat>
  <Paragraphs>622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나눔스퀘어</vt:lpstr>
      <vt:lpstr>나눔스퀘어 Bold</vt:lpstr>
      <vt:lpstr>나눔스퀘어 ExtraBold</vt:lpstr>
      <vt:lpstr>Arial</vt:lpstr>
      <vt:lpstr>Office 테마</vt:lpstr>
      <vt:lpstr>S&amp;P Global 연구보고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  <vt:lpstr>S&amp;P 500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Please write your presentation title. What are you going to present?</dc:title>
  <dc:creator>하승연[ 대학원석사과정졸업 / 미디어학과 ]</dc:creator>
  <cp:lastModifiedBy>최재서</cp:lastModifiedBy>
  <cp:revision>187</cp:revision>
  <dcterms:created xsi:type="dcterms:W3CDTF">2024-07-12T06:33:46Z</dcterms:created>
  <dcterms:modified xsi:type="dcterms:W3CDTF">2026-10-19T06:03:23Z</dcterms:modified>
</cp:coreProperties>
</file>